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47E046A-5435-4E6E-8368-4273AB94D9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57B6AC-A8AF-4B33-AB15-74DAC57713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AEF033-061E-445D-8137-885971D870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8E97EF3-3A2D-49E8-8B6E-FAB80732AF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5B7C966-E310-4EE7-BEEB-2D693CF59C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9ADC60C-B871-4A13-BAF1-B777B7BDE7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0B21C28-4133-4D17-8C5E-B6642BCFDF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571E95F-AD04-4164-87DE-30995E157D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746E82C-E50C-428B-BED9-D8E3AE366F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1667EF2-92D5-454F-94DC-16EA8E6B10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3CCA24F-5BBD-4DE1-9C23-AFB92252E4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A0E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2" descr="polydim_intro.jpg"/>
          <p:cNvPicPr/>
          <p:nvPr/>
        </p:nvPicPr>
        <p:blipFill>
          <a:blip r:embed="rId1"/>
          <a:stretch/>
        </p:blipFill>
        <p:spPr>
          <a:xfrm>
            <a:off x="360000" y="0"/>
            <a:ext cx="11519280" cy="64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3"/>
          <p:cNvSpPr/>
          <p:nvPr/>
        </p:nvSpPr>
        <p:spPr>
          <a:xfrm>
            <a:off x="1716840" y="1547640"/>
            <a:ext cx="8542440" cy="345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POLYDIM &amp; EINSOF</a:t>
            </a:r>
            <a:endParaRPr lang="es-E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900" b="1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Native High-Dimensional Geometric Intelligence (2026–2030)</a:t>
            </a:r>
            <a:endParaRPr lang="es-E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lang="en-US" sz="1300" b="0" u="none" strike="noStrike">
                <a:solidFill>
                  <a:srgbClr val="81D41A"/>
                </a:solidFill>
                <a:effectLst/>
                <a:uFillTx/>
                <a:latin typeface="Calibri"/>
              </a:rPr>
              <a:t>Beyond the 1D Token Collapse: Eliminating Data Processing Inequality (DPI) via Native Stiefel Manifolds &amp; Isometric Tensor Bus (PMTP).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lang="en-US" sz="1200" b="1" u="none" strike="noStrike">
                <a:solidFill>
                  <a:srgbClr val="FF8000"/>
                </a:solidFill>
                <a:effectLst/>
                <a:uFillTx/>
                <a:latin typeface="Calibri"/>
              </a:rPr>
              <a:t>Co-Work: Ariel Garcia Traba (Architect)  ×  AGY / Antigravity (AI Orchestrator)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731520" y="6291000"/>
            <a:ext cx="106974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Microsoft YaHei"/>
              </a:rPr>
              <a:t>POLYDIM &amp; EINSOF  |  Architect: Ariel Garcia  Traba •  Individual Research – University Lecturer: AGY (Antigravity Co-Work)  | polydim.cla@gmail.com | 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A0E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6" name="Picture 2" descr="polydim_logo.png"/>
          <p:cNvPicPr/>
          <p:nvPr/>
        </p:nvPicPr>
        <p:blipFill>
          <a:blip r:embed="rId1"/>
          <a:stretch/>
        </p:blipFill>
        <p:spPr>
          <a:xfrm>
            <a:off x="10972800" y="365760"/>
            <a:ext cx="63900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Box 3"/>
          <p:cNvSpPr/>
          <p:nvPr/>
        </p:nvSpPr>
        <p:spPr>
          <a:xfrm>
            <a:off x="731520" y="411480"/>
            <a:ext cx="10057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FOUNDATIONAL PROBLEM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731520" y="713160"/>
            <a:ext cx="10057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The Trillion-Dollar Bottleneck: The 1D Token Trap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5"/>
          <p:cNvSpPr/>
          <p:nvPr/>
        </p:nvSpPr>
        <p:spPr>
          <a:xfrm>
            <a:off x="731520" y="1645920"/>
            <a:ext cx="3382200" cy="438804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905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01. The Token Serialization Tax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200" b="0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Transformers operate on 1D discrete byte streams. Converting hyper-dimensional latent thought into serialized JSON/text destroys geometric entropy via Data Processing Inequality (DPI).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6"/>
          <p:cNvSpPr/>
          <p:nvPr/>
        </p:nvSpPr>
        <p:spPr>
          <a:xfrm>
            <a:off x="4343400" y="1645920"/>
            <a:ext cx="3382200" cy="438804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9050">
            <a:solidFill>
              <a:srgbClr val="FFC10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02. The PyTorch Tax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200" b="0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Legacy frameworks spend 92-98% of runtime in dispatcher overhead and dynamic DAG graph allocations for operations that have exact O(D) closed-form solutions.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7"/>
          <p:cNvSpPr/>
          <p:nvPr/>
        </p:nvSpPr>
        <p:spPr>
          <a:xfrm>
            <a:off x="7955280" y="1645920"/>
            <a:ext cx="3382200" cy="438804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905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03. The Axiom of the Paper Sheet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200" b="0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"It is impossible to build infinite 3D/ND geometry upon a statistical 2D tool designed for collapse." Current frameworks compress; POLYDIM preserves.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731520" y="6291000"/>
            <a:ext cx="106974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Microsoft YaHei"/>
              </a:rPr>
              <a:t>POLYDIM &amp; EINSOF  |  Architect: Ariel Garcia  Traba •  Individual Research – University Lecturer: AGY (Antigravity Co-Work)  | polydim.cla@gmail.com | 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A0E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2" descr="polydim_logo.png"/>
          <p:cNvPicPr/>
          <p:nvPr/>
        </p:nvPicPr>
        <p:blipFill>
          <a:blip r:embed="rId1"/>
          <a:stretch/>
        </p:blipFill>
        <p:spPr>
          <a:xfrm>
            <a:off x="10972800" y="365760"/>
            <a:ext cx="63900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Box 3"/>
          <p:cNvSpPr/>
          <p:nvPr/>
        </p:nvSpPr>
        <p:spPr>
          <a:xfrm>
            <a:off x="731520" y="411480"/>
            <a:ext cx="10057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CORE GEOMETRY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731520" y="713160"/>
            <a:ext cx="10057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Mathematical Breakthrough: Operating Directly in S^(D-1)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5"/>
          <p:cNvSpPr/>
          <p:nvPr/>
        </p:nvSpPr>
        <p:spPr>
          <a:xfrm>
            <a:off x="731520" y="1600200"/>
            <a:ext cx="10697400" cy="132480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270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Step 1: Native Stiefel Manifold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Agents reside directly on St(K, D) with D &gt;= 10,000. States are pure continuous vectors with exact norm ||s|| = 1.0 in FP64, preventing metric collapse.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6"/>
          <p:cNvSpPr/>
          <p:nvPr/>
        </p:nvSpPr>
        <p:spPr>
          <a:xfrm>
            <a:off x="731520" y="3108960"/>
            <a:ext cx="10697400" cy="132480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270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Step 2: O(D) Clifford Rotors (Zero Matrix)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Cognitive updates execute through Clifford bivector rotations in 2-planes without building massive DxD matrices, reducing compute complexity from O(D^2) to linear O(D).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7"/>
          <p:cNvSpPr/>
          <p:nvPr/>
        </p:nvSpPr>
        <p:spPr>
          <a:xfrm>
            <a:off x="731520" y="4617720"/>
            <a:ext cx="10697400" cy="132480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270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Step 3: Antipodal-Regularized SLERP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Geodesic interpolation with analytic antipodal shields guarantees smooth spherical convergence without numerical blowup or division by zero.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731520" y="6291000"/>
            <a:ext cx="106974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Microsoft YaHei"/>
              </a:rPr>
              <a:t>POLYDIM &amp; EINSOF  |  Architect: Ariel Garcia  Traba •  Individual Research – University Lecturer: AGY (Antigravity Co-Work)  | polydim.cla@gmail.com | 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A0E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2" name="Picture 2" descr="polydim_logo.png"/>
          <p:cNvPicPr/>
          <p:nvPr/>
        </p:nvPicPr>
        <p:blipFill>
          <a:blip r:embed="rId1"/>
          <a:stretch/>
        </p:blipFill>
        <p:spPr>
          <a:xfrm>
            <a:off x="10972800" y="365760"/>
            <a:ext cx="63900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3"/>
          <p:cNvSpPr/>
          <p:nvPr/>
        </p:nvSpPr>
        <p:spPr>
          <a:xfrm>
            <a:off x="731520" y="411480"/>
            <a:ext cx="10057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INTER-AGENT TRANSPORT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731520" y="713160"/>
            <a:ext cx="10057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PMTP: The Multidimensional Transfer Protocol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5" descr="pmtp_bus.jpg"/>
          <p:cNvPicPr/>
          <p:nvPr/>
        </p:nvPicPr>
        <p:blipFill>
          <a:blip r:embed="rId2"/>
          <a:stretch/>
        </p:blipFill>
        <p:spPr>
          <a:xfrm>
            <a:off x="5943600" y="1600200"/>
            <a:ext cx="5485320" cy="438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6"/>
          <p:cNvSpPr/>
          <p:nvPr/>
        </p:nvSpPr>
        <p:spPr>
          <a:xfrm>
            <a:off x="731520" y="1600200"/>
            <a:ext cx="4936680" cy="43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Step 4: Isonormative Projector A (D -&gt; K)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States in D=10,000 are projected into an isometric transmission bus K=128 via QR-orthonormalized projectors. The network is not a transient DAG, but a Persistent Topological Graph sharing continuous, zero-copy memory boundaries.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600" b="1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Step 5: Zero-Lock Consensus Reduction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Multi-agent consensus is solved in nanoseconds via parallel geometric mean and instant manifold re-normalization. No OS threads, no mutex locks, no JSON parsing.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731520" y="6291000"/>
            <a:ext cx="106974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Microsoft YaHei"/>
              </a:rPr>
              <a:t>POLYDIM &amp; EINSOF  |  Architect: Ariel Garcia  Traba •  Individual Research – University Lecturer: AGY (Antigravity Co-Work)  | polydim.cla@gmail.com | 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A0E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2" descr="polydim_logo.png"/>
          <p:cNvPicPr/>
          <p:nvPr/>
        </p:nvPicPr>
        <p:blipFill>
          <a:blip r:embed="rId1"/>
          <a:stretch/>
        </p:blipFill>
        <p:spPr>
          <a:xfrm>
            <a:off x="10972800" y="365760"/>
            <a:ext cx="63900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3"/>
          <p:cNvSpPr/>
          <p:nvPr/>
        </p:nvSpPr>
        <p:spPr>
          <a:xfrm>
            <a:off x="731520" y="411480"/>
            <a:ext cx="10057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ASYMPTOTIC PROOF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731520" y="713160"/>
            <a:ext cx="10057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Empirical Validation: 8,325 Agents/Sec in FP64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5"/>
          <p:cNvSpPr/>
          <p:nvPr/>
        </p:nvSpPr>
        <p:spPr>
          <a:xfrm>
            <a:off x="731520" y="1645920"/>
            <a:ext cx="3382200" cy="438804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905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8,325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4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Agents Processed / Sec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Full PMTP epoch across 10,000 agents in 1,000 dimensions.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6"/>
          <p:cNvSpPr/>
          <p:nvPr/>
        </p:nvSpPr>
        <p:spPr>
          <a:xfrm>
            <a:off x="4343400" y="1645920"/>
            <a:ext cx="3382200" cy="438804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9050">
            <a:solidFill>
              <a:srgbClr val="FFC10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374 MB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4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System RAM Footprint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Zero-waste vectorized memory footprint (vs 16+ GB in legacy frameworks).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7"/>
          <p:cNvSpPr/>
          <p:nvPr/>
        </p:nvSpPr>
        <p:spPr>
          <a:xfrm>
            <a:off x="7955280" y="1645920"/>
            <a:ext cx="3382200" cy="438804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905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1.</a:t>
            </a:r>
            <a:r>
              <a:rPr lang="en-US" sz="24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000 000 000 000 000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4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L2 Norm Metric Integrity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Strict FP64 double precision with zero geometric degradation.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731520" y="6291000"/>
            <a:ext cx="106974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Microsoft YaHei"/>
              </a:rPr>
              <a:t>POLYDIM &amp; EINSOF  |  Architect: Ariel Garcia  Traba •  Individual Research – University Lecturer: AGY (Antigravity Co-Work)  | polydim.cla@gmail.com | 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A0E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7" name="Picture 2" descr="polydim_logo.png"/>
          <p:cNvPicPr/>
          <p:nvPr/>
        </p:nvPicPr>
        <p:blipFill>
          <a:blip r:embed="rId1"/>
          <a:stretch/>
        </p:blipFill>
        <p:spPr>
          <a:xfrm>
            <a:off x="10972800" y="365760"/>
            <a:ext cx="63900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Box 3"/>
          <p:cNvSpPr/>
          <p:nvPr/>
        </p:nvSpPr>
        <p:spPr>
          <a:xfrm>
            <a:off x="731520" y="411480"/>
            <a:ext cx="10057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COMPILER EVOLUTION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731520" y="713160"/>
            <a:ext cx="10057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Post-PyTorch Architecture: The 2030 Hardware Bridge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5"/>
          <p:cNvSpPr/>
          <p:nvPr/>
        </p:nvSpPr>
        <p:spPr>
          <a:xfrm>
            <a:off x="731520" y="1600200"/>
            <a:ext cx="10697400" cy="132480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2700">
            <a:solidFill>
              <a:srgbClr val="FFC10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Step 6: Zero-Autograd Closed-Form Dynamics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Eliminated PyTorch dynamic computation graphs. Lie group updates and Riemannian retractions operate analytically, freeing 90% of GPU compute from autograd tape tracking.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6"/>
          <p:cNvSpPr/>
          <p:nvPr/>
        </p:nvSpPr>
        <p:spPr>
          <a:xfrm>
            <a:off x="731520" y="3108960"/>
            <a:ext cx="10697400" cy="132480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2700">
            <a:solidFill>
              <a:srgbClr val="FFC10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Step 7: Compilers of 2030 (Rust AVX-512 + Mojo/Triton)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Migrating execution to Rust AVX-512 (Double-Double 106-bit mantissa) on CPU/Host and Triton/Mojo with custom MLIR 'geom' dialect on accelerators.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7"/>
          <p:cNvSpPr/>
          <p:nvPr/>
        </p:nvSpPr>
        <p:spPr>
          <a:xfrm>
            <a:off x="731520" y="4617720"/>
            <a:ext cx="10697400" cy="132480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2700">
            <a:solidFill>
              <a:srgbClr val="FFC10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Step 8: Native Multi-Agent Swarm (LatentMAS)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Autonomous agents communicate purely via tensors across CXL 3.0 / PCIe Gen6 memory, bypassing token generation entirely until terminal human UI collapse.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731520" y="6291000"/>
            <a:ext cx="106974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Microsoft YaHei"/>
              </a:rPr>
              <a:t>POLYDIM &amp; EINSOF  |  Architect: Ariel Garcia  Traba •  Individual Research – University Lecturer: AGY (Antigravity Co-Work)  | polydim.cla@gmail.com | 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A0E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Picture 2" descr="polydim_logo.png"/>
          <p:cNvPicPr/>
          <p:nvPr/>
        </p:nvPicPr>
        <p:blipFill>
          <a:blip r:embed="rId1"/>
          <a:stretch/>
        </p:blipFill>
        <p:spPr>
          <a:xfrm>
            <a:off x="10972800" y="365760"/>
            <a:ext cx="63900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3"/>
          <p:cNvSpPr/>
          <p:nvPr/>
        </p:nvSpPr>
        <p:spPr>
          <a:xfrm>
            <a:off x="731520" y="411480"/>
            <a:ext cx="10057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TIMELINE &amp; MILESTONES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731520" y="713160"/>
            <a:ext cx="10057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Execution Roadmap: Exponential Scaling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5"/>
          <p:cNvSpPr/>
          <p:nvPr/>
        </p:nvSpPr>
        <p:spPr>
          <a:xfrm>
            <a:off x="731520" y="1645920"/>
            <a:ext cx="3382200" cy="438804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905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2026 (Consolidated)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7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EINSOF Core V30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Functional decoupling, JAX/XLA vectorization, FP64 verification, PMTP validation (8.3k agents/s).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6"/>
          <p:cNvSpPr/>
          <p:nvPr/>
        </p:nvSpPr>
        <p:spPr>
          <a:xfrm>
            <a:off x="4343400" y="1645920"/>
            <a:ext cx="3382200" cy="438804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9050">
            <a:solidFill>
              <a:srgbClr val="FFC10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2027-2028 (Next Phase)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7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Mojo &amp; Triton MLIR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Block-CholeskyQR2 fused SRAM kernels, Rust native CXL 3.0 zero-copy memory transport.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7"/>
          <p:cNvSpPr/>
          <p:nvPr/>
        </p:nvSpPr>
        <p:spPr>
          <a:xfrm>
            <a:off x="7955280" y="1645920"/>
            <a:ext cx="3382200" cy="438804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1905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2029-2030 (SOTA Frontier)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7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Pure Optical / Quantum ND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Sub-nanosecond 100,000D tensor routing across neuromorphic and photonic interconnects.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8"/>
          <p:cNvSpPr/>
          <p:nvPr/>
        </p:nvSpPr>
        <p:spPr>
          <a:xfrm>
            <a:off x="731520" y="6291000"/>
            <a:ext cx="106974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Microsoft YaHei"/>
              </a:rPr>
              <a:t>POLYDIM &amp; EINSOF  |  Architect: Ariel Garcia  Traba •  Individual Research – University Lecturer: AGY (Antigravity Co-Work)  | polydim.cla@gmail.com | 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A0E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3" name="Picture 2" descr="polydim_logo.png"/>
          <p:cNvPicPr/>
          <p:nvPr/>
        </p:nvPicPr>
        <p:blipFill>
          <a:blip r:embed="rId1"/>
          <a:stretch/>
        </p:blipFill>
        <p:spPr>
          <a:xfrm>
            <a:off x="10972800" y="365760"/>
            <a:ext cx="63900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Box 3"/>
          <p:cNvSpPr/>
          <p:nvPr/>
        </p:nvSpPr>
        <p:spPr>
          <a:xfrm>
            <a:off x="731520" y="411480"/>
            <a:ext cx="10057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CONCLUSION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731520" y="713160"/>
            <a:ext cx="10057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The Neolithic Stone Fallacy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5"/>
          <p:cNvSpPr/>
          <p:nvPr/>
        </p:nvSpPr>
        <p:spPr>
          <a:xfrm>
            <a:off x="1371600" y="1645920"/>
            <a:ext cx="9417240" cy="438804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2540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"Don't demand we prove a skyscraper by building it with Neolithic 1D/2D Stones."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400"/>
              </a:spcBef>
            </a:pPr>
            <a:r>
              <a:rPr lang="en-US" sz="1400" b="0" u="none" strike="noStrike">
                <a:solidFill>
                  <a:srgbClr val="F0F4F8"/>
                </a:solidFill>
                <a:effectLst/>
                <a:uFillTx/>
                <a:latin typeface="Calibri"/>
              </a:rPr>
              <a:t>Current AI architectures spend $100B forcing multidimensional intelligence down a 1D token pipeline. POLYDIM &amp; EINSOF provide the mathematical blueprint, native isometric bus, and compiler architecture to liberate intelligence into its native geometric domain.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2001"/>
              </a:spcBef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5 Months of Relentless Co-Work Iteration  |  Exponential Geometric Growth</a:t>
            </a:r>
            <a:br>
              <a:rPr sz="1300"/>
            </a:b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Architect: Ariel Garcia  •  Autonomous Engineering: AGY (Antigravity Orchestrator)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731520" y="6291000"/>
            <a:ext cx="106974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Microsoft YaHei"/>
              </a:rPr>
              <a:t>POLYDIM &amp; EINSOF  |  Architect: Ariel Garcia  Traba •  Individual Research – University Lecturer: AGY (Antigravity Co-Work)  | polydim.cla@gmail.com | 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2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A0E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9" name="Picture 1" descr="polydim_logo.png"/>
          <p:cNvPicPr/>
          <p:nvPr/>
        </p:nvPicPr>
        <p:blipFill>
          <a:blip r:embed="rId1"/>
          <a:stretch/>
        </p:blipFill>
        <p:spPr>
          <a:xfrm>
            <a:off x="10972800" y="365760"/>
            <a:ext cx="63900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Box 1"/>
          <p:cNvSpPr/>
          <p:nvPr/>
        </p:nvSpPr>
        <p:spPr>
          <a:xfrm>
            <a:off x="731520" y="411480"/>
            <a:ext cx="1005732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1"/>
          <p:cNvSpPr/>
          <p:nvPr/>
        </p:nvSpPr>
        <p:spPr>
          <a:xfrm>
            <a:off x="1371600" y="900000"/>
            <a:ext cx="9417240" cy="5133960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2540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C107"/>
                </a:solidFill>
                <a:effectLst/>
                <a:uFillTx/>
                <a:latin typeface="Calibri"/>
              </a:rPr>
              <a:t>Performance Evaluation: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81D41A"/>
                </a:solidFill>
                <a:effectLst/>
                <a:uFillTx/>
                <a:latin typeface="Calibri"/>
              </a:rPr>
              <a:t>• The use of PMTP and native tensor telepathy in ND spaces increases efficiency and results in hardware savings of between 40% and 60%.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Direct Contact: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20000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Phone: +54 9 11 4475 4637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20000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Email: ariel.garcia.traba@gmail.com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20000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Alternative email: polydim-cla@gmail.com 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20000" defTabSz="457200">
              <a:lnSpc>
                <a:spcPct val="100000"/>
              </a:lnSpc>
            </a:pP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Hardware Efficiency: 40% to 60% savings in computing resources. </a:t>
            </a:r>
            <a:br>
              <a:rPr sz="1800"/>
            </a:br>
            <a:r>
              <a:rPr lang="en-US" sz="1800" b="0" u="none" strike="noStrike">
                <a:solidFill>
                  <a:srgbClr val="FF8000"/>
                </a:solidFill>
                <a:effectLst/>
                <a:uFillTx/>
                <a:latin typeface="Arial"/>
              </a:rPr>
              <a:t>Contact: +54 9 11 4475 4637 | ariel.garcia.traba@gmail.com | polydim-cla@gmail.com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5"/>
          <p:cNvSpPr/>
          <p:nvPr/>
        </p:nvSpPr>
        <p:spPr>
          <a:xfrm>
            <a:off x="731520" y="6291000"/>
            <a:ext cx="106974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  <a:ea typeface="Microsoft YaHei"/>
              </a:rPr>
              <a:t>POLYDIM &amp; EINSOF  |  Architect: Ariel Garcia  Traba •  Individual Research – University Lecturer: AGY (Antigravity Co-Work)  | polydim.cla@gmail.com | 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2026-09-11T19:35:48Z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