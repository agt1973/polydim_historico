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Inter Light"/>
      <p:regular r:id="rId23"/>
      <p:bold r:id="rId24"/>
      <p:italic r:id="rId25"/>
      <p:boldItalic r:id="rId26"/>
    </p:embeddedFont>
    <p:embeddedFont>
      <p:font typeface="Inter SemiBold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Cinzel SemiBold"/>
      <p:regular r:id="rId35"/>
      <p:bold r:id="rId36"/>
    </p:embeddedFont>
    <p:embeddedFont>
      <p:font typeface="Cinzel"/>
      <p:regular r:id="rId37"/>
      <p:bold r:id="rId38"/>
    </p:embeddedFont>
    <p:embeddedFont>
      <p:font typeface="Fira Code"/>
      <p:regular r:id="rId39"/>
      <p:bold r:id="rId40"/>
    </p:embeddedFont>
    <p:embeddedFont>
      <p:font typeface="Inter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D049A0-4C21-4DEB-AAE3-295F33697A3D}">
  <a:tblStyle styleId="{D7D049A0-4C21-4DEB-AAE3-295F33697A3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Code-bold.fntdata"/><Relationship Id="rId20" Type="http://schemas.openxmlformats.org/officeDocument/2006/relationships/slide" Target="slides/slide14.xml"/><Relationship Id="rId42" Type="http://schemas.openxmlformats.org/officeDocument/2006/relationships/font" Target="fonts/InterMedium-bold.fntdata"/><Relationship Id="rId41" Type="http://schemas.openxmlformats.org/officeDocument/2006/relationships/font" Target="fonts/InterMedium-regular.fntdata"/><Relationship Id="rId22" Type="http://schemas.openxmlformats.org/officeDocument/2006/relationships/slide" Target="slides/slide16.xml"/><Relationship Id="rId44" Type="http://schemas.openxmlformats.org/officeDocument/2006/relationships/font" Target="fonts/InterMedium-boldItalic.fntdata"/><Relationship Id="rId21" Type="http://schemas.openxmlformats.org/officeDocument/2006/relationships/slide" Target="slides/slide15.xml"/><Relationship Id="rId43" Type="http://schemas.openxmlformats.org/officeDocument/2006/relationships/font" Target="fonts/InterMedium-italic.fntdata"/><Relationship Id="rId24" Type="http://schemas.openxmlformats.org/officeDocument/2006/relationships/font" Target="fonts/InterLight-bold.fntdata"/><Relationship Id="rId23" Type="http://schemas.openxmlformats.org/officeDocument/2006/relationships/font" Target="fonts/Inter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Light-boldItalic.fntdata"/><Relationship Id="rId25" Type="http://schemas.openxmlformats.org/officeDocument/2006/relationships/font" Target="fonts/InterLight-italic.fntdata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Cinzel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Cinzel-regular.fntdata"/><Relationship Id="rId14" Type="http://schemas.openxmlformats.org/officeDocument/2006/relationships/slide" Target="slides/slide8.xml"/><Relationship Id="rId36" Type="http://schemas.openxmlformats.org/officeDocument/2006/relationships/font" Target="fonts/CinzelSemiBold-bold.fntdata"/><Relationship Id="rId17" Type="http://schemas.openxmlformats.org/officeDocument/2006/relationships/slide" Target="slides/slide11.xml"/><Relationship Id="rId39" Type="http://schemas.openxmlformats.org/officeDocument/2006/relationships/font" Target="fonts/FiraCode-regular.fntdata"/><Relationship Id="rId16" Type="http://schemas.openxmlformats.org/officeDocument/2006/relationships/slide" Target="slides/slide10.xml"/><Relationship Id="rId38" Type="http://schemas.openxmlformats.org/officeDocument/2006/relationships/font" Target="fonts/Cinzel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38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17.png"/><Relationship Id="rId6" Type="http://schemas.openxmlformats.org/officeDocument/2006/relationships/image" Target="../media/image33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Relationship Id="rId7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44.png"/><Relationship Id="rId6" Type="http://schemas.openxmlformats.org/officeDocument/2006/relationships/image" Target="../media/image32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40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36.png"/><Relationship Id="rId6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375" y="3808065"/>
            <a:ext cx="238125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235767" y="2468909"/>
            <a:ext cx="3720465" cy="48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Cinzel"/>
                <a:ea typeface="Cinzel"/>
                <a:cs typeface="Cinzel"/>
                <a:sym typeface="Cinzel"/>
              </a:rPr>
              <a:t>POLYDIM-CLA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462212" y="3093690"/>
            <a:ext cx="72675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Formal Axiomatics and Topological Foundations for Cognitive Programming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905375" y="3931890"/>
            <a:ext cx="2381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Google Antigravity Swarm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55405"/>
            <a:ext cx="5372100" cy="541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131367"/>
            <a:ext cx="53721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2131367"/>
            <a:ext cx="56407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From Algorithms to Cognition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2455217"/>
            <a:ext cx="53721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Traditional computing focuses on deterministic algorithm execution inside discrete state machines. Representation learning mandates a complete epistemological reorientation.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3191023"/>
            <a:ext cx="53721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Program execution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is redefined: no longer an imperative traversal of predefined instructions, but the constrained, directed evolution of an internal representational space.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90179" y="4107805"/>
            <a:ext cx="1753641" cy="2370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2140892"/>
            <a:ext cx="53530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The Epistemological Paradigm Shift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3675608"/>
            <a:ext cx="53721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2823120"/>
            <a:ext cx="53721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EAB308"/>
                </a:solidFill>
                <a:latin typeface="Cinzel"/>
                <a:ea typeface="Cinzel"/>
                <a:cs typeface="Cinzel"/>
                <a:sym typeface="Cinzel"/>
              </a:rPr>
              <a:t>6-Tuple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81025" y="3966120"/>
            <a:ext cx="537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Mathematical Encapsulation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238875" y="2823120"/>
            <a:ext cx="56407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Rigorous Program Specification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238875" y="3146970"/>
            <a:ext cx="53721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 Cognitive Program is defined as a formal axiomatic system governing state trajectories: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238875" y="4323308"/>
            <a:ext cx="53721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Where </a:t>
            </a: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is the state manifold, </a:t>
            </a: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is the semantic goal, </a:t>
            </a: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is the state endomorphism, </a:t>
            </a: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is the observer functor, </a:t>
            </a: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is the constraint predicate, and </a:t>
            </a: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Π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is the selection policy.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31633" y="3837533"/>
            <a:ext cx="2186433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The Cognitive Program Tuple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19661"/>
            <a:ext cx="53721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131367"/>
            <a:ext cx="53721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81025" y="2131367"/>
            <a:ext cx="56407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Mappings Between Function Spaces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81025" y="2455217"/>
            <a:ext cx="53721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POLYDIM-CLA treats functions as vector space elements, extending classical deep learning to infinite-dimensional spaces via **Neural Operators** (such as DeepONet or Fourier Neural Operators).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81025" y="3191023"/>
            <a:ext cx="53721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This bypasses finite-dimensional bottlenecks, facilitating **zero-shot generalization** directly over continuous fields.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33092" y="3891111"/>
            <a:ext cx="867816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2140892"/>
            <a:ext cx="53530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Infinite-Dimensional Neural Operators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73139"/>
            <a:ext cx="3549699" cy="1935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973139"/>
            <a:ext cx="3549699" cy="1935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973139"/>
            <a:ext cx="3549699" cy="193595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81050" y="3611314"/>
            <a:ext cx="33071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Manifold (D)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81050" y="393516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Dynamically scaled topological dimensions, bridging continuous high-dimensional latent spaces with discrete schema structures.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521249" y="3611314"/>
            <a:ext cx="330713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Projections (ΠP)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521249" y="397326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Functors collapsing high-entropy spaces while strictly preserving homotopic invariants across representations.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261449" y="3611314"/>
            <a:ext cx="33071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Groupoid (&amp;mathcal;G)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261449" y="393516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An ∞-groupoid of transformations that preserve identity types (`GEO_ID`) up to higher homotopies.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20173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1249" y="3201739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61449" y="3201739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Axiomatic Theory of Polydimensions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905000" y="2987426"/>
            <a:ext cx="8715375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Axioms I &amp; II (State &amp; Observation):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Every cognitive program has a non-empty state manifold $S$ and admits a valid observation functor $O$.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905000" y="3516064"/>
            <a:ext cx="8715375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Axioms III &amp; IV (Closure &amp; Homotopy):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Every $T \in \mathcal{T}$ maps to a valid state $S' \in D$, and the groupoid of transformations is weakly invertible.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905000" y="4044701"/>
            <a:ext cx="8715375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Axioms V &amp; VI (Teleology &amp; Constraint):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Trajectories are strictly bound to explicit goals $G$ and are continually evaluable against logical predicates $C$.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905000" y="4573339"/>
            <a:ext cx="8715375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Axiom VII (Deliberative Plasticity):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The execution policy $\Pi$ remains mutable and self-referential during process evolution.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302552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1625" y="3554164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1625" y="408280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1625" y="461143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The Seven Axioms of Execution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39789"/>
            <a:ext cx="5372100" cy="2202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839789"/>
            <a:ext cx="5372100" cy="2202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75" y="3411289"/>
            <a:ext cx="487680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828675" y="3087439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B30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Yoneda Foundation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28675" y="4058989"/>
            <a:ext cx="48768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Guarantees that objects are uniquely determined by their network of morphisms. This theoretically warrants **relative representations** (`GEO_ID`) without needing global anchors.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486525" y="3087439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B30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Subobject Classifier (Ω)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486525" y="3411289"/>
            <a:ext cx="48768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Grothendieck topos structures allow the integration of intuitionistic logic. When physical or logical constraints are broken during compilation, invalid states safely **collapse to the empty fiber** ($\emptyset$) without disrupting topological continuity.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49338" y="3573214"/>
            <a:ext cx="2835473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Topos Theory &amp; The Yoneda Lemma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91023"/>
            <a:ext cx="5372100" cy="541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131367"/>
            <a:ext cx="53721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81025" y="2131367"/>
            <a:ext cx="56407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Rotor-Based State Evolution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81025" y="2455217"/>
            <a:ext cx="53721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The standard Clifford Algebra $\mathcal{C}\ell(n,0)$ scales exponentially to $2^n$ degrees of freedom. To maintain performance, transformations are strictly bound to the **Spin Group** using the Cartan-Dieudonné theorem.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81025" y="3875782"/>
            <a:ext cx="53721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The state update employs the </a:t>
            </a:r>
            <a:r>
              <a:rPr b="0" i="0" lang="en-US" sz="1087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Cayley Transform</a:t>
            </a: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to extract the skew-symmetric generator without dense, non-linear calculations.</a:t>
            </a:r>
            <a:endParaRPr/>
          </a:p>
        </p:txBody>
      </p:sp>
      <p:pic>
        <p:nvPicPr>
          <p:cNvPr descr="image.png" id="190" name="Google Shape;19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04232" y="3343423"/>
            <a:ext cx="725537" cy="1989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8400" y="2140892"/>
            <a:ext cx="46863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Geometric Algebra &amp; Spin Rotors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0158"/>
            <a:ext cx="11029950" cy="486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81025" y="4938861"/>
            <a:ext cx="1102995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Hodge Decomposition partitioned flow: the smallest eigenvalue of the Cellular Sheaf Laplacian governs multi-agent consensus, with values below threshold triggering catastrophic "Spectral Cognitive Collapse".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Sheaf Laplacian &amp; Spectral Collapse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3840658"/>
            <a:ext cx="5372100" cy="58906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581025" y="2781002"/>
            <a:ext cx="53721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EAB308"/>
                </a:solidFill>
                <a:latin typeface="Cinzel"/>
                <a:ea typeface="Cinzel"/>
                <a:cs typeface="Cinzel"/>
                <a:sym typeface="Cinzel"/>
              </a:rPr>
              <a:t>Ο(NK²)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81025" y="3924002"/>
            <a:ext cx="537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From Cubic to Linear Scaling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238875" y="2781002"/>
            <a:ext cx="56407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Bypassing the Ο(N³) Bottleneck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238875" y="3104852"/>
            <a:ext cx="53721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Classical routing updates scale cubically with dimensions. Applying the **Woodbury Matrix Identity** allows us to invert low-rank modifications in linear time: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238875" y="4572595"/>
            <a:ext cx="53721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This step reduces computations significantly on dense, modern tensor-core execution engines.</a:t>
            </a:r>
            <a:endParaRPr/>
          </a:p>
        </p:txBody>
      </p:sp>
      <p:pic>
        <p:nvPicPr>
          <p:cNvPr descr="image.png" id="214" name="Google Shape;21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1825" y="3993058"/>
            <a:ext cx="4826049" cy="28426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Woodbury Matrix Complexity Reduction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2" name="Google Shape;222;p23"/>
          <p:cNvGraphicFramePr/>
          <p:nvPr/>
        </p:nvGraphicFramePr>
        <p:xfrm>
          <a:off x="581025" y="28219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{D7D049A0-4C21-4DEB-AAE3-295F33697A3D}</a:tableStyleId>
              </a:tblPr>
              <a:tblGrid>
                <a:gridCol w="2065575"/>
                <a:gridCol w="2165750"/>
                <a:gridCol w="2326175"/>
                <a:gridCol w="2406400"/>
                <a:gridCol w="2066025"/>
              </a:tblGrid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Cinzel SemiBold"/>
                          <a:ea typeface="Cinzel SemiBold"/>
                          <a:cs typeface="Cinzel SemiBold"/>
                          <a:sym typeface="Cinzel SemiBold"/>
                        </a:rPr>
                        <a:t>State Dimension 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Cinzel SemiBold"/>
                          <a:ea typeface="Cinzel SemiBold"/>
                          <a:cs typeface="Cinzel SemiBold"/>
                          <a:sym typeface="Cinzel SemiBold"/>
                        </a:rPr>
                        <a:t>Low-Rank Factor (K)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Cinzel SemiBold"/>
                          <a:ea typeface="Cinzel SemiBold"/>
                          <a:cs typeface="Cinzel SemiBold"/>
                          <a:sym typeface="Cinzel SemiBold"/>
                        </a:rPr>
                        <a:t>Standard Latency (ms)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Cinzel SemiBold"/>
                          <a:ea typeface="Cinzel SemiBold"/>
                          <a:cs typeface="Cinzel SemiBold"/>
                          <a:sym typeface="Cinzel SemiBold"/>
                        </a:rPr>
                        <a:t>Woodbury Latency (ms)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Cinzel SemiBold"/>
                          <a:ea typeface="Cinzel SemiBold"/>
                          <a:cs typeface="Cinzel SemiBold"/>
                          <a:sym typeface="Cinzel SemiBold"/>
                        </a:rPr>
                        <a:t>Calculated Speedup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547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2,048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8.92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1.12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7.9x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4,096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42.51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3.06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13.8x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8,192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284.15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12.24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23.2x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16,384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1,940.60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58.96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32.9x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23"/>
          <p:cNvSpPr/>
          <p:nvPr/>
        </p:nvSpPr>
        <p:spPr>
          <a:xfrm>
            <a:off x="581025" y="3274367"/>
            <a:ext cx="206558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2646610" y="3274367"/>
            <a:ext cx="216574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4812357" y="3274367"/>
            <a:ext cx="23261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7138541" y="3274367"/>
            <a:ext cx="24064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9544942" y="3274367"/>
            <a:ext cx="2066032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81025" y="3719661"/>
            <a:ext cx="206558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2646610" y="3719661"/>
            <a:ext cx="216574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4812357" y="3719661"/>
            <a:ext cx="23261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7138541" y="3719661"/>
            <a:ext cx="24064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9544942" y="3719661"/>
            <a:ext cx="2066032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81025" y="4164955"/>
            <a:ext cx="206558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2646610" y="4164955"/>
            <a:ext cx="216574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4812357" y="4164955"/>
            <a:ext cx="23261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7138541" y="4164955"/>
            <a:ext cx="24064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9544942" y="4164955"/>
            <a:ext cx="2066032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81025" y="4610248"/>
            <a:ext cx="2065585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2646610" y="4610248"/>
            <a:ext cx="2165746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4812357" y="4610248"/>
            <a:ext cx="2326183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7138541" y="4610248"/>
            <a:ext cx="2406401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9544942" y="4610248"/>
            <a:ext cx="2066032" cy="95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Empirical Latency Benchmarks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0158"/>
            <a:ext cx="11029950" cy="486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1976437" y="4732883"/>
            <a:ext cx="8239125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Acceleration scaling performance metrics comparing raw tensor inverse calculation against Low-Rank Woodbury projections.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Hardware Execution Speedups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64023"/>
            <a:ext cx="5372100" cy="2554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664023"/>
            <a:ext cx="5372100" cy="2554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675" y="3764160"/>
            <a:ext cx="4876800" cy="535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3556992"/>
            <a:ext cx="4876800" cy="59188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828675" y="2911673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B30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Implicit Layer Solutions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828675" y="3235523"/>
            <a:ext cx="48768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Instead of stacking infinite transformer blocks sequentially, POLYDIM computes mathematical fixed points directly: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828675" y="4442073"/>
            <a:ext cx="48768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This enforces reliable, constant-time state convergence inside hidden layers.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6486525" y="2911673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B30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Clarke Generalized Jacobian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6486525" y="3235523"/>
            <a:ext cx="4876800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Secures backpropagation bounds across non-differentiable manifolds: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6486525" y="4291756"/>
            <a:ext cx="48768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Ensures Lipschitz-1 bounds, protecting calculations from gradient explosion.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15803" y="3916560"/>
            <a:ext cx="1302543" cy="230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80696" y="3718917"/>
            <a:ext cx="2888307" cy="27756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Equilibrium Models &amp; Clarke Jacobian</a:t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92189"/>
            <a:ext cx="3549699" cy="1897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2992189"/>
            <a:ext cx="3549699" cy="1897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992189"/>
            <a:ext cx="3549699" cy="189785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781050" y="3630364"/>
            <a:ext cx="33071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ATTEND Monad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781050" y="395421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Developing measure-theoretic bounds under probabilistic softmax normalizations using Giry Monads.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4521249" y="3630364"/>
            <a:ext cx="33071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Banach Fixed Points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4521249" y="3954214"/>
            <a:ext cx="3149649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Enforcing strict 1-Lipschitz bounds on multi-head attention blocks to ensure gradient convergence.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8261449" y="3630364"/>
            <a:ext cx="33071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Quantum TDA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8261449" y="3954214"/>
            <a:ext cx="3149649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Accelerating topological HodgeRank algorithms on quantum-native latent structures.</a:t>
            </a:r>
            <a:endParaRPr/>
          </a:p>
        </p:txBody>
      </p:sp>
      <p:pic>
        <p:nvPicPr>
          <p:cNvPr descr="image.png" id="287" name="Google Shape;28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050" y="322078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1249" y="322078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61449" y="322078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Open Problems &amp; Conjectures</a:t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 txBox="1"/>
          <p:nvPr/>
        </p:nvSpPr>
        <p:spPr>
          <a:xfrm>
            <a:off x="2657475" y="4809083"/>
            <a:ext cx="68770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Establishing formal conditions to preserve objective functions and eliminate structural hallucinations.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1408211" y="2744539"/>
            <a:ext cx="9375427" cy="1493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Cinzel"/>
                <a:ea typeface="Cinzel"/>
                <a:cs typeface="Cinzel"/>
                <a:sym typeface="Cinzel"/>
              </a:rPr>
              <a:t>"Compilation in POLYDIM transcends syntax translation; it is the homomorphic preservation of the cognitive process, securing topological invariants across arbitrary architectures."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3640782" y="4428083"/>
            <a:ext cx="49101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ARIEL ET AL. — GOOGLE ANTIGRAVITY SWARM PROJECT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1027211" y="2458789"/>
            <a:ext cx="2857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EAB308"/>
                </a:solidFill>
                <a:latin typeface="Cinzel"/>
                <a:ea typeface="Cinzel"/>
                <a:cs typeface="Cinzel"/>
                <a:sym typeface="Cinzel"/>
              </a:rPr>
              <a:t>“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The Theorem of Cognitive Preservation</a:t>
            </a: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8"/>
          <p:cNvSpPr/>
          <p:nvPr/>
        </p:nvSpPr>
        <p:spPr>
          <a:xfrm>
            <a:off x="2214562" y="2788592"/>
            <a:ext cx="7762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2214562" y="3560117"/>
            <a:ext cx="77628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2214562" y="3550592"/>
            <a:ext cx="7762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2214562" y="3550592"/>
            <a:ext cx="7762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2214562" y="4322117"/>
            <a:ext cx="7762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2214562" y="4322117"/>
            <a:ext cx="77628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4" name="Google Shape;31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2" y="29314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8"/>
          <p:cNvSpPr txBox="1"/>
          <p:nvPr/>
        </p:nvSpPr>
        <p:spPr>
          <a:xfrm>
            <a:off x="3309937" y="2938611"/>
            <a:ext cx="66675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https://www.quantamagazine.org/wp-content/uploads/2025/11/What-is-a-Manifold-cr-Mark-Belan-Lede-2.webp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3309937" y="3171973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www.quantamagazine.org</a:t>
            </a:r>
            <a:endParaRPr/>
          </a:p>
        </p:txBody>
      </p:sp>
      <p:pic>
        <p:nvPicPr>
          <p:cNvPr descr="image.png" id="317" name="Google Shape;31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14562" y="3702992"/>
            <a:ext cx="1685925" cy="41433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3309937" y="3710136"/>
            <a:ext cx="66675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https://i.sstatic.net/NNFIx.png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3309937" y="3943498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math.stackexchange.com</a:t>
            </a:r>
            <a:endParaRPr/>
          </a:p>
        </p:txBody>
      </p:sp>
      <p:pic>
        <p:nvPicPr>
          <p:cNvPr descr="image.png" id="320" name="Google Shape;32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4562" y="44745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8"/>
          <p:cNvSpPr txBox="1"/>
          <p:nvPr/>
        </p:nvSpPr>
        <p:spPr>
          <a:xfrm>
            <a:off x="3309937" y="4481661"/>
            <a:ext cx="66675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https://upload.wikimedia.org/wikipedia/commons/c/c1/Spinor_on_the_circle.png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3309937" y="4715023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en.wikipedia.org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581025" y="738633"/>
            <a:ext cx="115814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AB308"/>
                </a:solidFill>
                <a:latin typeface="Cinzel SemiBold"/>
                <a:ea typeface="Cinzel SemiBold"/>
                <a:cs typeface="Cinzel SemiBold"/>
                <a:sym typeface="Cinzel SemiBold"/>
              </a:rPr>
              <a:t>Image Sources</a:t>
            </a:r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581025" y="1262508"/>
            <a:ext cx="11029950" cy="952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