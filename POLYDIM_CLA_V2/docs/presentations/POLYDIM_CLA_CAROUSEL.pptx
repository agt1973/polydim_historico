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4671FA-A111-4756-8B01-E953D4CB11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7D274B-AE58-4251-8CD8-4D46331262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6B4F7E-FA3B-49CB-B21B-20162E1DCD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EED4D6-92AC-4DB8-99E5-9E998E3A0C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7F648B-C1BE-405D-9B63-F414758066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A0484D-1D02-4467-8C6B-57C96C13FE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6C74D7-58AC-4EB2-A913-7E61570D9F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59EDE3-9C3A-4677-912E-E70A873C48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611AA4-813B-4191-8A58-6BA8C543BB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B55445-2AEA-4087-A1CA-35C333CA8D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7DF667-16E9-4CBB-AF7A-94AEAD71F9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520" cy="365400"/>
          </a:xfrm>
          <a:prstGeom prst="rect">
            <a:avLst/>
          </a:prstGeom>
          <a:solidFill>
            <a:srgbClr val="5662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31520" y="1371600"/>
            <a:ext cx="1072548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CÓMO ROMPIMOS EL LÍMITE DE MEMORIA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 LAS TPUs DE GOOGLE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3291840"/>
            <a:ext cx="10725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Ruteo Latente Asintóticamente Óptimo para Inteligencia Artificial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731520" y="4572000"/>
            <a:ext cx="10725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E0B034"/>
                </a:solidFill>
                <a:effectLst/>
                <a:uFillTx/>
                <a:latin typeface="Calibri"/>
              </a:rPr>
              <a:t>Ariel H. Garcia Traba  ·  Google Antigravity Swarm Project</a:t>
            </a: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5662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457200" y="274320"/>
            <a:ext cx="112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El Gran Desafío de la IA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914400" y="1645920"/>
            <a:ext cx="103597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🔴 Las IAs piensan internamente en espacios multidimensionales complejos (10.000+ dimensiones).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0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🔴 Sin embargo, para comunicarse entre sí, las forzamos a traducir todo a TEXTO (letra por letra).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0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🔴 Esta traducción destruye el 99.9% de los matices y genera un cuello de botella inmenso.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B034"/>
                </a:solidFill>
                <a:effectLst/>
                <a:uFillTx/>
                <a:latin typeface="Calibri"/>
              </a:rPr>
              <a:t>🔴 ¿Por qué no hacer que se comuniquen directamente enviándose sus vectores latentes?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5662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57200" y="274320"/>
            <a:ext cx="112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 Barrera de la Matemática Clásica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914400" y="1645920"/>
            <a:ext cx="103597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🔥 El alineamiento latente tradicional requiere operaciones matemáticas densas de complejidad O(N³).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🔥 A medida que el contexto (N) crece, la memoria necesaria explota geométricamente.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0" u="none" strike="noStrike">
                <a:solidFill>
                  <a:srgbClr val="E0B034"/>
                </a:solidFill>
                <a:effectLst/>
                <a:uFillTx/>
                <a:latin typeface="Calibri"/>
              </a:rPr>
              <a:t>🔥 En laboratorio, al testear N = 16.384 en una TPU v5 de Google, la máquina colapsó por falta de memoria (OOM).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0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🔥 El hardware moderno es incapaz de sostener la alineación clásica en ventanas de contexto gigantes.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5662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274320"/>
            <a:ext cx="112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 Solución: Identidad de Woodbury + Cayley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914400" y="1645920"/>
            <a:ext cx="103597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🚀 POLYDIM-CLA aplica la Transformada de Cayley sobre Rotores de Clifford para rotar la semántica.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B034"/>
                </a:solidFill>
                <a:effectLst/>
                <a:uFillTx/>
                <a:latin typeface="Calibri"/>
              </a:rPr>
              <a:t>🚀 Bypaseamos la inversión densa tradicional usando la Identidad Matricial de Woodbury.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🚀 Esto reduce la complejidad computacional de un plumazo de O(N³) a O(N) lineal.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0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🚀 En lugar de procesar la matriz completa, operamos directamente sobre el vector de estado latente.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5662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274320"/>
            <a:ext cx="112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Resultados Empíricos (TPU v5 vs. GPU T4)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Table 3"/>
          <p:cNvGraphicFramePr/>
          <p:nvPr/>
        </p:nvGraphicFramePr>
        <p:xfrm>
          <a:off x="914400" y="1645920"/>
          <a:ext cx="10359720" cy="4114800"/>
        </p:xfrm>
        <a:graphic>
          <a:graphicData uri="http://schemas.openxmlformats.org/drawingml/2006/table">
            <a:tbl>
              <a:tblPr/>
              <a:tblGrid>
                <a:gridCol w="2071800"/>
                <a:gridCol w="2071800"/>
                <a:gridCol w="2071800"/>
                <a:gridCol w="2071800"/>
                <a:gridCol w="2071800"/>
              </a:tblGrid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Contexto (N)</a:t>
                      </a:r>
                      <a:endParaRPr lang="es-E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662C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Plataforma</a:t>
                      </a:r>
                      <a:endParaRPr lang="es-E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662C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Inversión Dense O(N³)</a:t>
                      </a:r>
                      <a:endParaRPr lang="es-E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662C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Tiempo Woodbury O(N)</a:t>
                      </a:r>
                      <a:endParaRPr lang="es-E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662C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Aceleración</a:t>
                      </a:r>
                      <a:endParaRPr lang="es-E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5662C6"/>
                    </a:solidFill>
                  </a:tcPr>
                </a:tc>
              </a:tr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1.024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GPU T4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13.83 ms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2.88 ms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4.8x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</a:tr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4.096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TPU v5 lite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20.75 ms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1.19 ms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17.4x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</a:tr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8.192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TPU v5 lite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175.40 ms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7.56 ms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23.2x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</a:tr>
              <a:tr h="8229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16.384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TPU v5 lite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OOM CRASH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7D2E2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58.96 ms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00"/>
                          </a:solidFill>
                          <a:effectLst/>
                          <a:uFillTx/>
                          <a:latin typeface="Calibri"/>
                        </a:rPr>
                        <a:t>Incalculable</a:t>
                      </a:r>
                      <a:endParaRPr lang="es-ES" sz="1800" b="0" u="none" strike="noStrike">
                        <a:solidFill>
                          <a:srgbClr val="FFFF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1A3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5662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274320"/>
            <a:ext cx="112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El Muro de Memoria en GPU de Consumo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914400" y="1645920"/>
            <a:ext cx="103597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💡 La GPU Tesla T4 (la más barata y accesible) demostró el 'Memory Bandwidth Wall'.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💡 Aunque Woodbury ahorra computación, transferir 1 GB de la matriz rotada por el bus GDDR6 ralentiza la GPU.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B034"/>
                </a:solidFill>
                <a:effectLst/>
                <a:uFillTx/>
                <a:latin typeface="Calibri"/>
              </a:rPr>
              <a:t>💡 Por lo tanto, demostramos que no se debe materializar la matriz densa en memoria.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0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💡 La aplicación implícita (y = Qx) permite que GPUs de consumo corran contextos masivos a tiempo real.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5662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57200" y="274320"/>
            <a:ext cx="112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El Futuro: Sistemas Multiagente Latentes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914400" y="1645920"/>
            <a:ext cx="103597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🌐 Los agentes ya no chatearán enviándose reportes de texto XML o JSON.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1" u="none" strike="noStrike">
                <a:solidFill>
                  <a:srgbClr val="E0B034"/>
                </a:solidFill>
                <a:effectLst/>
                <a:uFillTx/>
                <a:latin typeface="Calibri"/>
              </a:rPr>
              <a:t>🌐 Pasaremos de agentes que chatean a un cerebro distribuido de tensores interconectados.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000" b="0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🌐 Roteando ideas en milisegundos a través de haces celulares semánticos sin pérdida de información.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0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88520" cy="72720"/>
          </a:xfrm>
          <a:prstGeom prst="rect">
            <a:avLst/>
          </a:prstGeom>
          <a:solidFill>
            <a:srgbClr val="5662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457200" y="274320"/>
            <a:ext cx="1127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Seguí el Proyecto Abierto</a:t>
            </a:r>
            <a:endParaRPr lang="es-E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914400" y="1645920"/>
            <a:ext cx="10359720" cy="18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400" b="1" u="none" strike="noStrike">
                <a:solidFill>
                  <a:srgbClr val="E0B034"/>
                </a:solidFill>
                <a:effectLst/>
                <a:uFillTx/>
                <a:latin typeface="Calibri"/>
              </a:rPr>
              <a:t>💻 Repositorio GitHub: github.com/AGT1973/POLYDIM_CLA </a:t>
            </a:r>
            <a:endParaRPr lang="es-E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200" b="0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📄 Paper Completo en Inglés y Español en docs/paper/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sz="2200" b="0" u="none" strike="noStrike">
                <a:solidFill>
                  <a:srgbClr val="E0E4FF"/>
                </a:solidFill>
                <a:effectLst/>
                <a:uFillTx/>
                <a:latin typeface="Calibri"/>
              </a:rPr>
              <a:t>🆔 ORCID de Autoría: 0009-0001-2787-6067</a:t>
            </a:r>
            <a:endParaRPr lang="es-E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LibreOffice/26.2.4.2$Windows_X86_64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2026-07-06T16:18:42Z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