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Cinzel SemiBold"/>
      <p:regular r:id="rId15"/>
    </p:embeddedFont>
    <p:embeddedFont>
      <p:font typeface="Inter SemiBold"/>
    </p:embeddedFont>
    <p:embeddedFont>
      <p:font typeface="Inter"/>
    </p:embeddedFont>
    <p:embeddedFont>
      <p:font typeface="Inter Light"/>
      <p:regular r:id="rId16"/>
    </p:embeddedFont>
    <p:embeddedFont>
      <p:font typeface="Fira Code"/>
      <p:regular r:id="rId17"/>
      <p:bold r:id="rId18"/>
      <p:italic r:id="rId18"/>
    </p:embeddedFont>
    <p:embeddedFont>
      <p:font typeface="Cinzel"/>
      <p:regular r:id="rId19"/>
      <p:bold r:id="rId19"/>
    </p:embeddedFont>
    <p:embeddedFont>
      <p:font typeface="Inter Medium"/>
      <p:regular r:id="rId2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Cinzel_SemiBold_Regular.fntdata"/><Relationship Id="rId16" Type="http://schemas.openxmlformats.org/officeDocument/2006/relationships/font" Target="fonts/Font_2_Inter_Light_Regular.fntdata"/><Relationship Id="rId17" Type="http://schemas.openxmlformats.org/officeDocument/2006/relationships/font" Target="fonts/Font_3_Fira_Code_Regular.fntdata"/><Relationship Id="rId18" Type="http://schemas.openxmlformats.org/officeDocument/2006/relationships/font" Target="fonts/Font_4_Fira_Code_Bold.fntdata"/><Relationship Id="rId19" Type="http://schemas.openxmlformats.org/officeDocument/2006/relationships/font" Target="fonts/Font_5_Cinzel_Regular.fntdata"/><Relationship Id="rId20" Type="http://schemas.openxmlformats.org/officeDocument/2006/relationships/font" Target="fonts/Font_6_Inter_Medium_Regular.fntdata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5B4E101-8266-40BC-AD2F-725AD9846B9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BD06F3-C3F0-4FE6-8C08-FED92941741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F3ED655-0682-4F1F-ADEE-8681A98BE13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6DD625-2470-4AB0-A9BF-925AE34EF10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AEC9B5-597D-49A0-A573-FC42E690F28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es-E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6132CB-F559-44DA-A7B6-9F6611260C8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8FE186-9589-4A90-9D4B-5C62C058D8D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CF74EF-C65F-406C-BD30-F8EFC03F0E0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DDBF8D-716E-43BF-99DB-FA21CE3A4A8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6815BB-D5E1-4F3B-9BF9-9AD877B2D4B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C266EA-534B-4876-97B5-4F7447C9CE8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5;p13" descr="image.png"/>
          <p:cNvPicPr/>
          <p:nvPr/>
        </p:nvPicPr>
        <p:blipFill>
          <a:blip r:embed="rId2"/>
          <a:stretch/>
        </p:blipFill>
        <p:spPr>
          <a:xfrm>
            <a:off x="4905360" y="5212080"/>
            <a:ext cx="2381040" cy="58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87;p13"/>
          <p:cNvSpPr/>
          <p:nvPr/>
        </p:nvSpPr>
        <p:spPr>
          <a:xfrm>
            <a:off x="2119320" y="3741840"/>
            <a:ext cx="795312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 Light"/>
                <a:ea typeface="Inter Light"/>
              </a:rPr>
              <a:t>Asymptotically Optimal Latent Routing via Clifford Spinors &amp; Woodbury Projections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8;p13"/>
          <p:cNvSpPr/>
          <p:nvPr/>
        </p:nvSpPr>
        <p:spPr>
          <a:xfrm>
            <a:off x="4905360" y="5407920"/>
            <a:ext cx="23810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BDF8"/>
                </a:solidFill>
                <a:effectLst/>
                <a:uFillTx/>
                <a:latin typeface="Fira Code"/>
                <a:ea typeface="Fira Code"/>
              </a:rPr>
              <a:t>Google Antigravity Swarm Project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6;p13"/>
          <p:cNvSpPr/>
          <p:nvPr/>
        </p:nvSpPr>
        <p:spPr>
          <a:xfrm>
            <a:off x="4235760" y="1389240"/>
            <a:ext cx="37202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3450" b="1" u="none" strike="noStrike">
                <a:solidFill>
                  <a:srgbClr val="F8FAFC"/>
                </a:solidFill>
                <a:effectLst/>
                <a:uFillTx/>
                <a:latin typeface="Cinzel"/>
                <a:ea typeface="Cinzel"/>
              </a:rPr>
              <a:t>POLYDIM-CLA</a:t>
            </a:r>
            <a:endParaRPr lang="es-E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6;p 1"/>
          <p:cNvSpPr/>
          <p:nvPr/>
        </p:nvSpPr>
        <p:spPr>
          <a:xfrm>
            <a:off x="1260000" y="2181240"/>
            <a:ext cx="972000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spAutoFit/>
          </a:bodyPr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inzel"/>
                <a:ea typeface="Cinzel"/>
              </a:rPr>
              <a:t>Formal Axiomatics and Topological Foundations for Cognitive Programming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93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94;p14" descr="image.png"/>
          <p:cNvPicPr/>
          <p:nvPr/>
        </p:nvPicPr>
        <p:blipFill>
          <a:blip r:embed="rId2"/>
          <a:stretch/>
        </p:blipFill>
        <p:spPr>
          <a:xfrm>
            <a:off x="581040" y="2821320"/>
            <a:ext cx="5371920" cy="223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95;p14" descr="image.png"/>
          <p:cNvPicPr/>
          <p:nvPr/>
        </p:nvPicPr>
        <p:blipFill>
          <a:blip r:embed="rId3"/>
          <a:stretch/>
        </p:blipFill>
        <p:spPr>
          <a:xfrm>
            <a:off x="6238800" y="2821320"/>
            <a:ext cx="5371920" cy="223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96;p14" descr="image.png"/>
          <p:cNvPicPr/>
          <p:nvPr/>
        </p:nvPicPr>
        <p:blipFill>
          <a:blip r:embed="rId4"/>
          <a:stretch/>
        </p:blipFill>
        <p:spPr>
          <a:xfrm>
            <a:off x="828720" y="3393000"/>
            <a:ext cx="487656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97;p14" descr="image.png"/>
          <p:cNvPicPr/>
          <p:nvPr/>
        </p:nvPicPr>
        <p:blipFill>
          <a:blip r:embed="rId5"/>
          <a:stretch/>
        </p:blipFill>
        <p:spPr>
          <a:xfrm>
            <a:off x="6486480" y="3393000"/>
            <a:ext cx="4876560" cy="54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Google Shape;98;p14"/>
          <p:cNvSpPr/>
          <p:nvPr/>
        </p:nvSpPr>
        <p:spPr>
          <a:xfrm>
            <a:off x="828720" y="306900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AB308"/>
                </a:solidFill>
                <a:effectLst/>
                <a:uFillTx/>
                <a:latin typeface="Inter SemiBold"/>
                <a:ea typeface="Inter SemiBold"/>
              </a:rPr>
              <a:t>Classical Paradigm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9;p14"/>
          <p:cNvSpPr/>
          <p:nvPr/>
        </p:nvSpPr>
        <p:spPr>
          <a:xfrm>
            <a:off x="828720" y="4030920"/>
            <a:ext cx="48765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Execution maps deterministic instructions sequentially. Lacks continuous semantic derivatives and parametric backpropagation lenses across state transitions.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0;p14"/>
          <p:cNvSpPr/>
          <p:nvPr/>
        </p:nvSpPr>
        <p:spPr>
          <a:xfrm>
            <a:off x="6486480" y="306900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AB308"/>
                </a:solidFill>
                <a:effectLst/>
                <a:uFillTx/>
                <a:latin typeface="Inter SemiBold"/>
                <a:ea typeface="Inter SemiBold"/>
              </a:rPr>
              <a:t>POLYDIM-CLA Paradigm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1;p14"/>
          <p:cNvSpPr/>
          <p:nvPr/>
        </p:nvSpPr>
        <p:spPr>
          <a:xfrm>
            <a:off x="6486480" y="4077720"/>
            <a:ext cx="48765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Leverages parameterized lenses to construct exact semantic derivatives for backpropagation. Lazy log-tensor monads ensure safe, compilation-ready architectures.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Google Shape;102;p14" descr="image.png"/>
          <p:cNvPicPr/>
          <p:nvPr/>
        </p:nvPicPr>
        <p:blipFill>
          <a:blip r:embed="rId6"/>
          <a:stretch/>
        </p:blipFill>
        <p:spPr>
          <a:xfrm>
            <a:off x="2849040" y="3564360"/>
            <a:ext cx="835920" cy="1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03;p14" descr="image.png"/>
          <p:cNvPicPr/>
          <p:nvPr/>
        </p:nvPicPr>
        <p:blipFill>
          <a:blip r:embed="rId7"/>
          <a:stretch/>
        </p:blipFill>
        <p:spPr>
          <a:xfrm>
            <a:off x="7915680" y="3545280"/>
            <a:ext cx="201780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4;p14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The Operational Semantics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5;p14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10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111;p15" descr="image.png"/>
          <p:cNvPicPr/>
          <p:nvPr/>
        </p:nvPicPr>
        <p:blipFill>
          <a:blip r:embed="rId2"/>
          <a:stretch/>
        </p:blipFill>
        <p:spPr>
          <a:xfrm>
            <a:off x="581040" y="3887640"/>
            <a:ext cx="537192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12;p15" descr="image.png"/>
          <p:cNvPicPr/>
          <p:nvPr/>
        </p:nvPicPr>
        <p:blipFill>
          <a:blip r:embed="rId3"/>
          <a:stretch/>
        </p:blipFill>
        <p:spPr>
          <a:xfrm>
            <a:off x="6238800" y="2827800"/>
            <a:ext cx="5371920" cy="134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Google Shape;113;p15"/>
          <p:cNvSpPr/>
          <p:nvPr/>
        </p:nvSpPr>
        <p:spPr>
          <a:xfrm>
            <a:off x="581040" y="2827800"/>
            <a:ext cx="564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Function Space Mappings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4;p15"/>
          <p:cNvSpPr/>
          <p:nvPr/>
        </p:nvSpPr>
        <p:spPr>
          <a:xfrm>
            <a:off x="581040" y="3151800"/>
            <a:ext cx="5371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Traditional deep networks optimize over finite vector spaces. Under the neural operator framework (DeepONet, FNO), we learn mappings directly between infinite-dimensional Hilbert spaces: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5;p15"/>
          <p:cNvSpPr/>
          <p:nvPr/>
        </p:nvSpPr>
        <p:spPr>
          <a:xfrm>
            <a:off x="581040" y="4525560"/>
            <a:ext cx="53719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This formulation permits continuous field evaluations and resolves zero-shot generalization anomalies without dimensional collapse.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Google Shape;116;p15" descr="image.png"/>
          <p:cNvPicPr/>
          <p:nvPr/>
        </p:nvPicPr>
        <p:blipFill>
          <a:blip r:embed="rId4"/>
          <a:stretch/>
        </p:blipFill>
        <p:spPr>
          <a:xfrm>
            <a:off x="2833200" y="4059000"/>
            <a:ext cx="86760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Google Shape;117;p15"/>
          <p:cNvSpPr/>
          <p:nvPr/>
        </p:nvSpPr>
        <p:spPr>
          <a:xfrm>
            <a:off x="7659720" y="2980440"/>
            <a:ext cx="253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AB308"/>
                </a:solidFill>
                <a:effectLst/>
                <a:uFillTx/>
                <a:latin typeface="Inter SemiBold"/>
                <a:ea typeface="Inter SemiBold"/>
              </a:rPr>
              <a:t>The Convergence Integral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118;p15" descr="image.png"/>
          <p:cNvPicPr/>
          <p:nvPr/>
        </p:nvPicPr>
        <p:blipFill>
          <a:blip r:embed="rId5"/>
          <a:stretch/>
        </p:blipFill>
        <p:spPr>
          <a:xfrm>
            <a:off x="7515720" y="3351600"/>
            <a:ext cx="2818080" cy="2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Google Shape;119;p15"/>
          <p:cNvSpPr/>
          <p:nvPr/>
        </p:nvSpPr>
        <p:spPr>
          <a:xfrm>
            <a:off x="7338960" y="3738240"/>
            <a:ext cx="3171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D82"/>
                </a:solidFill>
                <a:effectLst/>
                <a:uFillTx/>
                <a:latin typeface="Inter"/>
                <a:ea typeface="Inter"/>
              </a:rPr>
              <a:t>Continuous kernel parametrization over arbitrary domains.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0;p15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Infinite-Dimensional Operators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1;p15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26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127;p16" descr="image.png"/>
          <p:cNvPicPr/>
          <p:nvPr/>
        </p:nvPicPr>
        <p:blipFill>
          <a:blip r:embed="rId2"/>
          <a:stretch/>
        </p:blipFill>
        <p:spPr>
          <a:xfrm>
            <a:off x="581040" y="2992320"/>
            <a:ext cx="3549240" cy="189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28;p16" descr="image.png"/>
          <p:cNvPicPr/>
          <p:nvPr/>
        </p:nvPicPr>
        <p:blipFill>
          <a:blip r:embed="rId3"/>
          <a:stretch/>
        </p:blipFill>
        <p:spPr>
          <a:xfrm>
            <a:off x="4321080" y="2992320"/>
            <a:ext cx="3549240" cy="189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129;p16" descr="image.png"/>
          <p:cNvPicPr/>
          <p:nvPr/>
        </p:nvPicPr>
        <p:blipFill>
          <a:blip r:embed="rId4"/>
          <a:stretch/>
        </p:blipFill>
        <p:spPr>
          <a:xfrm>
            <a:off x="8061480" y="2992320"/>
            <a:ext cx="3549240" cy="189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Google Shape;130;p16"/>
          <p:cNvSpPr/>
          <p:nvPr/>
        </p:nvSpPr>
        <p:spPr>
          <a:xfrm>
            <a:off x="781200" y="3630240"/>
            <a:ext cx="330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Dimensional scaling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1;p16"/>
          <p:cNvSpPr/>
          <p:nvPr/>
        </p:nvSpPr>
        <p:spPr>
          <a:xfrm>
            <a:off x="781200" y="3954240"/>
            <a:ext cx="3149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Set D: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Bounded latent topological configurations mapping structural changes without local metric distortions.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2;p16"/>
          <p:cNvSpPr/>
          <p:nvPr/>
        </p:nvSpPr>
        <p:spPr>
          <a:xfrm>
            <a:off x="4521240" y="3630240"/>
            <a:ext cx="330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Identity Groupoid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3;p16"/>
          <p:cNvSpPr/>
          <p:nvPr/>
        </p:nvSpPr>
        <p:spPr>
          <a:xfrm>
            <a:off x="4521240" y="3954240"/>
            <a:ext cx="3149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Set G: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Restricting semantic transformations to an ∞-groupoid guarantees valid path inversions via Homotopy Type Theory (HoTT).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4;p16"/>
          <p:cNvSpPr/>
          <p:nvPr/>
        </p:nvSpPr>
        <p:spPr>
          <a:xfrm>
            <a:off x="8261280" y="3630240"/>
            <a:ext cx="330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Differentiable Monad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35;p16"/>
          <p:cNvSpPr/>
          <p:nvPr/>
        </p:nvSpPr>
        <p:spPr>
          <a:xfrm>
            <a:off x="8261280" y="3954240"/>
            <a:ext cx="3149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Monad M: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Handles computational side-effects to compile categorical constructs directly to standard GPU tensor loops.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36;p16" descr="image.png"/>
          <p:cNvPicPr/>
          <p:nvPr/>
        </p:nvPicPr>
        <p:blipFill>
          <a:blip r:embed="rId5"/>
          <a:stretch/>
        </p:blipFill>
        <p:spPr>
          <a:xfrm>
            <a:off x="781200" y="3220920"/>
            <a:ext cx="2376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Google Shape;137;p16" descr="image.png"/>
          <p:cNvPicPr/>
          <p:nvPr/>
        </p:nvPicPr>
        <p:blipFill>
          <a:blip r:embed="rId6"/>
          <a:stretch/>
        </p:blipFill>
        <p:spPr>
          <a:xfrm>
            <a:off x="4521240" y="3220920"/>
            <a:ext cx="2376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138;p16" descr="image.png"/>
          <p:cNvPicPr/>
          <p:nvPr/>
        </p:nvPicPr>
        <p:blipFill>
          <a:blip r:embed="rId7"/>
          <a:stretch/>
        </p:blipFill>
        <p:spPr>
          <a:xfrm>
            <a:off x="8261280" y="322092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Google Shape;139;p16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Polydimensional Axiomatics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0;p16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45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146;p17" descr="image.png"/>
          <p:cNvPicPr/>
          <p:nvPr/>
        </p:nvPicPr>
        <p:blipFill>
          <a:blip r:embed="rId2"/>
          <a:stretch/>
        </p:blipFill>
        <p:spPr>
          <a:xfrm>
            <a:off x="581040" y="4289400"/>
            <a:ext cx="5371920" cy="54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147;p17" descr="image.png"/>
          <p:cNvPicPr/>
          <p:nvPr/>
        </p:nvPicPr>
        <p:blipFill>
          <a:blip r:embed="rId3"/>
          <a:stretch/>
        </p:blipFill>
        <p:spPr>
          <a:xfrm>
            <a:off x="6238800" y="3760560"/>
            <a:ext cx="53719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148;p17"/>
          <p:cNvSpPr/>
          <p:nvPr/>
        </p:nvSpPr>
        <p:spPr>
          <a:xfrm>
            <a:off x="581040" y="2908080"/>
            <a:ext cx="564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Restricted Spin(n) Actions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49;p17"/>
          <p:cNvSpPr/>
          <p:nvPr/>
        </p:nvSpPr>
        <p:spPr>
          <a:xfrm>
            <a:off x="581040" y="3232080"/>
            <a:ext cx="53719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To avoid the exponential space scaling ($2^{4096}$) of standard Clifford Algebras, updates restrict actions directly to the Spin Group.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50;p17"/>
          <p:cNvSpPr/>
          <p:nvPr/>
        </p:nvSpPr>
        <p:spPr>
          <a:xfrm>
            <a:off x="581040" y="3760560"/>
            <a:ext cx="53719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Reflections under the Cartan-Dieudonné theorem guarantee coordinate-independent rotor actions: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51;p17"/>
          <p:cNvSpPr/>
          <p:nvPr/>
        </p:nvSpPr>
        <p:spPr>
          <a:xfrm>
            <a:off x="6238800" y="2908080"/>
            <a:ext cx="564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Cayley Skew Generator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52;p17"/>
          <p:cNvSpPr/>
          <p:nvPr/>
        </p:nvSpPr>
        <p:spPr>
          <a:xfrm>
            <a:off x="6238800" y="3232080"/>
            <a:ext cx="53719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The transformation generator is extracted from the non-singular alignment matrix via the Cayley transform: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53;p17"/>
          <p:cNvSpPr/>
          <p:nvPr/>
        </p:nvSpPr>
        <p:spPr>
          <a:xfrm>
            <a:off x="6238800" y="4475160"/>
            <a:ext cx="5371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This avoids combinatorial explosion and guarantees strict equivariant updates.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Google Shape;154;p17" descr="image.png"/>
          <p:cNvPicPr/>
          <p:nvPr/>
        </p:nvPicPr>
        <p:blipFill>
          <a:blip r:embed="rId4"/>
          <a:stretch/>
        </p:blipFill>
        <p:spPr>
          <a:xfrm>
            <a:off x="2904120" y="4441680"/>
            <a:ext cx="725040" cy="19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oogle Shape;155;p17" descr="image.png"/>
          <p:cNvPicPr/>
          <p:nvPr/>
        </p:nvPicPr>
        <p:blipFill>
          <a:blip r:embed="rId5"/>
          <a:stretch/>
        </p:blipFill>
        <p:spPr>
          <a:xfrm>
            <a:off x="7854840" y="3913200"/>
            <a:ext cx="21394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156;p17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Spin Rotors &amp; Clifford Updates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7;p17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62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163;p18" descr="image.png"/>
          <p:cNvPicPr/>
          <p:nvPr/>
        </p:nvPicPr>
        <p:blipFill>
          <a:blip r:embed="rId2"/>
          <a:stretch/>
        </p:blipFill>
        <p:spPr>
          <a:xfrm>
            <a:off x="581040" y="1510200"/>
            <a:ext cx="11029680" cy="48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Google Shape;164;p18"/>
          <p:cNvSpPr/>
          <p:nvPr/>
        </p:nvSpPr>
        <p:spPr>
          <a:xfrm>
            <a:off x="1943280" y="5042520"/>
            <a:ext cx="8305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090" b="0" i="1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Spectral distribution of Cellular Hodge Laplacians. Collapse occurs when the smallest non-zero eigenvalue converges to zero.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5;p18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Sheaf Laplacian Flow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66;p18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71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172;p19" descr="image.png"/>
          <p:cNvPicPr/>
          <p:nvPr/>
        </p:nvPicPr>
        <p:blipFill>
          <a:blip r:embed="rId2"/>
          <a:stretch/>
        </p:blipFill>
        <p:spPr>
          <a:xfrm>
            <a:off x="6238800" y="4218480"/>
            <a:ext cx="537192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Google Shape;173;p19"/>
          <p:cNvSpPr/>
          <p:nvPr/>
        </p:nvSpPr>
        <p:spPr>
          <a:xfrm>
            <a:off x="581040" y="3012120"/>
            <a:ext cx="53719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250" b="1" u="none" strike="noStrike">
                <a:solidFill>
                  <a:srgbClr val="EAB308"/>
                </a:solidFill>
                <a:effectLst/>
                <a:uFillTx/>
                <a:latin typeface="Cinzel"/>
                <a:ea typeface="Cinzel"/>
              </a:rPr>
              <a:t>O(NK²)</a:t>
            </a:r>
            <a:endParaRPr lang="es-ES" sz="8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4;p19"/>
          <p:cNvSpPr/>
          <p:nvPr/>
        </p:nvSpPr>
        <p:spPr>
          <a:xfrm>
            <a:off x="581040" y="4155120"/>
            <a:ext cx="5371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8BDF8"/>
                </a:solidFill>
                <a:effectLst/>
                <a:uFillTx/>
                <a:latin typeface="Inter Medium"/>
                <a:ea typeface="Inter Medium"/>
              </a:rPr>
              <a:t>Linear Scaling Achieved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5;p19"/>
          <p:cNvSpPr/>
          <p:nvPr/>
        </p:nvSpPr>
        <p:spPr>
          <a:xfrm>
            <a:off x="6238800" y="3012120"/>
            <a:ext cx="5640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BDF8"/>
                </a:solidFill>
                <a:effectLst/>
                <a:uFillTx/>
                <a:latin typeface="Inter SemiBold"/>
                <a:ea typeface="Inter SemiBold"/>
              </a:rPr>
              <a:t>Bypassing Dense Matrix Inversion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6;p19"/>
          <p:cNvSpPr/>
          <p:nvPr/>
        </p:nvSpPr>
        <p:spPr>
          <a:xfrm>
            <a:off x="6238800" y="3335760"/>
            <a:ext cx="537192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Classical routing requires dense updates scaling at 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7;p19"/>
          <p:cNvSpPr/>
          <p:nvPr/>
        </p:nvSpPr>
        <p:spPr>
          <a:xfrm>
            <a:off x="6238800" y="3690000"/>
            <a:ext cx="53719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By applying the Woodbury Identity, we invert a low-rank matrix modification in linear time: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178;p19" descr="image.png"/>
          <p:cNvPicPr/>
          <p:nvPr/>
        </p:nvPicPr>
        <p:blipFill>
          <a:blip r:embed="rId3"/>
          <a:stretch/>
        </p:blipFill>
        <p:spPr>
          <a:xfrm>
            <a:off x="9648720" y="3335760"/>
            <a:ext cx="718920" cy="23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179;p19" descr="image.png"/>
          <p:cNvPicPr/>
          <p:nvPr/>
        </p:nvPicPr>
        <p:blipFill>
          <a:blip r:embed="rId4"/>
          <a:stretch/>
        </p:blipFill>
        <p:spPr>
          <a:xfrm>
            <a:off x="7105680" y="4370760"/>
            <a:ext cx="3638160" cy="2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180;p19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Woodbury Matrix Reductions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81;p19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86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37" name="Google Shape;187;p20"/>
          <p:cNvGraphicFramePr/>
          <p:nvPr/>
        </p:nvGraphicFramePr>
        <p:xfrm>
          <a:off x="581040" y="2822040"/>
          <a:ext cx="11029680" cy="2238120"/>
        </p:xfrm>
        <a:graphic>
          <a:graphicData uri="http://schemas.openxmlformats.org/drawingml/2006/table">
            <a:tbl>
              <a:tblPr/>
              <a:tblGrid>
                <a:gridCol w="2065320"/>
                <a:gridCol w="2165400"/>
                <a:gridCol w="2325960"/>
                <a:gridCol w="2597040"/>
                <a:gridCol w="1875240"/>
              </a:tblGrid>
              <a:tr h="4474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inzel SemiBold"/>
                          <a:ea typeface="Cinzel SemiBold"/>
                        </a:rPr>
                        <a:t>State Dimension (N)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inzel SemiBold"/>
                          <a:ea typeface="Cinzel SemiBold"/>
                        </a:rPr>
                        <a:t>Low-Rank Factor (K)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inzel SemiBold"/>
                          <a:ea typeface="Cinzel SemiBold"/>
                        </a:rPr>
                        <a:t>Standard Latency (ms)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inzel SemiBold"/>
                          <a:ea typeface="Cinzel SemiBold"/>
                        </a:rPr>
                        <a:t>Woodbury Optimized (ms)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inzel SemiBold"/>
                          <a:ea typeface="Cinzel SemiBold"/>
                        </a:rPr>
                        <a:t>Effective Speedup</a:t>
                      </a:r>
                      <a:endParaRPr lang="es-E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D2547"/>
                    </a:solidFill>
                  </a:tcPr>
                </a:tc>
              </a:tr>
              <a:tr h="4474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2,048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64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8.92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1.12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7.9x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474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4,096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64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42.51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3.06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13.8x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474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8,192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128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284.15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12.24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23.2x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474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16,384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128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1,940.60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0" u="none" strike="noStrike">
                          <a:solidFill>
                            <a:srgbClr val="A0AEC0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58.96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9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32.9x</a:t>
                      </a:r>
                      <a:endParaRPr lang="es-E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88;p20"/>
          <p:cNvSpPr/>
          <p:nvPr/>
        </p:nvSpPr>
        <p:spPr>
          <a:xfrm>
            <a:off x="581040" y="3274200"/>
            <a:ext cx="206532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89;p20"/>
          <p:cNvSpPr/>
          <p:nvPr/>
        </p:nvSpPr>
        <p:spPr>
          <a:xfrm>
            <a:off x="2646720" y="3274200"/>
            <a:ext cx="216540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0;p20"/>
          <p:cNvSpPr/>
          <p:nvPr/>
        </p:nvSpPr>
        <p:spPr>
          <a:xfrm>
            <a:off x="4812480" y="3274200"/>
            <a:ext cx="232596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1;p20"/>
          <p:cNvSpPr/>
          <p:nvPr/>
        </p:nvSpPr>
        <p:spPr>
          <a:xfrm>
            <a:off x="7138440" y="3274200"/>
            <a:ext cx="25966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2;p20"/>
          <p:cNvSpPr/>
          <p:nvPr/>
        </p:nvSpPr>
        <p:spPr>
          <a:xfrm>
            <a:off x="9735480" y="3274200"/>
            <a:ext cx="18748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93;p20"/>
          <p:cNvSpPr/>
          <p:nvPr/>
        </p:nvSpPr>
        <p:spPr>
          <a:xfrm>
            <a:off x="581040" y="3719520"/>
            <a:ext cx="206532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4;p20"/>
          <p:cNvSpPr/>
          <p:nvPr/>
        </p:nvSpPr>
        <p:spPr>
          <a:xfrm>
            <a:off x="2646720" y="3719520"/>
            <a:ext cx="216540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95;p20"/>
          <p:cNvSpPr/>
          <p:nvPr/>
        </p:nvSpPr>
        <p:spPr>
          <a:xfrm>
            <a:off x="4812480" y="3719520"/>
            <a:ext cx="232596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96;p20"/>
          <p:cNvSpPr/>
          <p:nvPr/>
        </p:nvSpPr>
        <p:spPr>
          <a:xfrm>
            <a:off x="7138440" y="3719520"/>
            <a:ext cx="25966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97;p20"/>
          <p:cNvSpPr/>
          <p:nvPr/>
        </p:nvSpPr>
        <p:spPr>
          <a:xfrm>
            <a:off x="9735480" y="3719520"/>
            <a:ext cx="18748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98;p20"/>
          <p:cNvSpPr/>
          <p:nvPr/>
        </p:nvSpPr>
        <p:spPr>
          <a:xfrm>
            <a:off x="581040" y="4164840"/>
            <a:ext cx="206532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99;p20"/>
          <p:cNvSpPr/>
          <p:nvPr/>
        </p:nvSpPr>
        <p:spPr>
          <a:xfrm>
            <a:off x="2646720" y="4164840"/>
            <a:ext cx="216540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00;p20"/>
          <p:cNvSpPr/>
          <p:nvPr/>
        </p:nvSpPr>
        <p:spPr>
          <a:xfrm>
            <a:off x="4812480" y="4164840"/>
            <a:ext cx="232596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01;p20"/>
          <p:cNvSpPr/>
          <p:nvPr/>
        </p:nvSpPr>
        <p:spPr>
          <a:xfrm>
            <a:off x="7138440" y="4164840"/>
            <a:ext cx="25966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02;p20"/>
          <p:cNvSpPr/>
          <p:nvPr/>
        </p:nvSpPr>
        <p:spPr>
          <a:xfrm>
            <a:off x="9735480" y="4164840"/>
            <a:ext cx="18748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03;p20"/>
          <p:cNvSpPr/>
          <p:nvPr/>
        </p:nvSpPr>
        <p:spPr>
          <a:xfrm>
            <a:off x="581040" y="4610160"/>
            <a:ext cx="206532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04;p20"/>
          <p:cNvSpPr/>
          <p:nvPr/>
        </p:nvSpPr>
        <p:spPr>
          <a:xfrm>
            <a:off x="2646720" y="4610160"/>
            <a:ext cx="216540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05;p20"/>
          <p:cNvSpPr/>
          <p:nvPr/>
        </p:nvSpPr>
        <p:spPr>
          <a:xfrm>
            <a:off x="4812480" y="4610160"/>
            <a:ext cx="232596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06;p20"/>
          <p:cNvSpPr/>
          <p:nvPr/>
        </p:nvSpPr>
        <p:spPr>
          <a:xfrm>
            <a:off x="7138440" y="4610160"/>
            <a:ext cx="25966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07;p20"/>
          <p:cNvSpPr/>
          <p:nvPr/>
        </p:nvSpPr>
        <p:spPr>
          <a:xfrm>
            <a:off x="9735480" y="4610160"/>
            <a:ext cx="1874880" cy="90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08;p20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Latency Execution Profiles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09;p20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214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Google Shape;215;p21" descr="image.png"/>
          <p:cNvPicPr/>
          <p:nvPr/>
        </p:nvPicPr>
        <p:blipFill>
          <a:blip r:embed="rId2"/>
          <a:stretch/>
        </p:blipFill>
        <p:spPr>
          <a:xfrm>
            <a:off x="581040" y="1510200"/>
            <a:ext cx="11029680" cy="48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Google Shape;216;p21"/>
          <p:cNvSpPr/>
          <p:nvPr/>
        </p:nvSpPr>
        <p:spPr>
          <a:xfrm>
            <a:off x="2943360" y="4732920"/>
            <a:ext cx="63050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090" b="0" i="1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Acceleration metrics comparing direct tensor inverses against Low-Rank Woodbury Projections.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17;p21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Hardware Optimization Scaling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18;p21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223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oogle Shape;224;p22" descr="image.png"/>
          <p:cNvPicPr/>
          <p:nvPr/>
        </p:nvPicPr>
        <p:blipFill>
          <a:blip r:embed="rId2"/>
          <a:stretch/>
        </p:blipFill>
        <p:spPr>
          <a:xfrm>
            <a:off x="581040" y="2763000"/>
            <a:ext cx="5371920" cy="23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oogle Shape;225;p22" descr="image.png"/>
          <p:cNvPicPr/>
          <p:nvPr/>
        </p:nvPicPr>
        <p:blipFill>
          <a:blip r:embed="rId3"/>
          <a:stretch/>
        </p:blipFill>
        <p:spPr>
          <a:xfrm>
            <a:off x="6238800" y="2763000"/>
            <a:ext cx="5371920" cy="23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226;p22" descr="image.png"/>
          <p:cNvPicPr/>
          <p:nvPr/>
        </p:nvPicPr>
        <p:blipFill>
          <a:blip r:embed="rId4"/>
          <a:stretch/>
        </p:blipFill>
        <p:spPr>
          <a:xfrm>
            <a:off x="828720" y="3863160"/>
            <a:ext cx="4876560" cy="53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227;p22" descr="image.png"/>
          <p:cNvPicPr/>
          <p:nvPr/>
        </p:nvPicPr>
        <p:blipFill>
          <a:blip r:embed="rId5"/>
          <a:stretch/>
        </p:blipFill>
        <p:spPr>
          <a:xfrm>
            <a:off x="6486480" y="3863160"/>
            <a:ext cx="4876560" cy="5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Google Shape;228;p22"/>
          <p:cNvSpPr/>
          <p:nvPr/>
        </p:nvSpPr>
        <p:spPr>
          <a:xfrm>
            <a:off x="828720" y="301068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AB308"/>
                </a:solidFill>
                <a:effectLst/>
                <a:uFillTx/>
                <a:latin typeface="Inter SemiBold"/>
                <a:ea typeface="Inter SemiBold"/>
              </a:rPr>
              <a:t>Deep Equilibrium Solves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9;p22"/>
          <p:cNvSpPr/>
          <p:nvPr/>
        </p:nvSpPr>
        <p:spPr>
          <a:xfrm>
            <a:off x="828720" y="3334320"/>
            <a:ext cx="487656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Instead of stacking infinite transformer layers, we compute fixed points directly via implicit routing updates: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30;p22"/>
          <p:cNvSpPr/>
          <p:nvPr/>
        </p:nvSpPr>
        <p:spPr>
          <a:xfrm>
            <a:off x="828720" y="4493520"/>
            <a:ext cx="4876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Enforces stable convergence inside parameterized neural layers.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31;p22"/>
          <p:cNvSpPr/>
          <p:nvPr/>
        </p:nvSpPr>
        <p:spPr>
          <a:xfrm>
            <a:off x="6486480" y="301068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AB308"/>
                </a:solidFill>
                <a:effectLst/>
                <a:uFillTx/>
                <a:latin typeface="Inter SemiBold"/>
                <a:ea typeface="Inter SemiBold"/>
              </a:rPr>
              <a:t>Clarke Generalized Jacobian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32;p22"/>
          <p:cNvSpPr/>
          <p:nvPr/>
        </p:nvSpPr>
        <p:spPr>
          <a:xfrm>
            <a:off x="6486480" y="3334320"/>
            <a:ext cx="487656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To secure backpropagation bounds through non-smooth, non-differentiable activation manifolds: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33;p22"/>
          <p:cNvSpPr/>
          <p:nvPr/>
        </p:nvSpPr>
        <p:spPr>
          <a:xfrm>
            <a:off x="6486480" y="4550400"/>
            <a:ext cx="4876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Strict Lipschitz-1 limits shield updates from spectral expansion loops.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Google Shape;234;p22" descr="image.png"/>
          <p:cNvPicPr/>
          <p:nvPr/>
        </p:nvPicPr>
        <p:blipFill>
          <a:blip r:embed="rId6"/>
          <a:stretch/>
        </p:blipFill>
        <p:spPr>
          <a:xfrm>
            <a:off x="2615760" y="4015440"/>
            <a:ext cx="1302120" cy="23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Google Shape;235;p22" descr="image.png"/>
          <p:cNvPicPr/>
          <p:nvPr/>
        </p:nvPicPr>
        <p:blipFill>
          <a:blip r:embed="rId7"/>
          <a:stretch/>
        </p:blipFill>
        <p:spPr>
          <a:xfrm>
            <a:off x="7480800" y="4025160"/>
            <a:ext cx="2887920" cy="27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Google Shape;236;p22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Alignment &amp; Equilibrium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37;p22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242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243;p23"/>
          <p:cNvSpPr/>
          <p:nvPr/>
        </p:nvSpPr>
        <p:spPr>
          <a:xfrm>
            <a:off x="1905120" y="3074760"/>
            <a:ext cx="87148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The ATTEND Monad &amp; Softmax: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Formulating measure-theoretic bounds under probabilistic softmax normalization (Giry Monad equivalents).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44;p23"/>
          <p:cNvSpPr/>
          <p:nvPr/>
        </p:nvSpPr>
        <p:spPr>
          <a:xfrm>
            <a:off x="1905120" y="3603600"/>
            <a:ext cx="87148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Banach Fixed Points for Attention: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Establishing strict 1-Lipschitz bounds on multi-head attention queries to prevent gradient divergence.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45;p23"/>
          <p:cNvSpPr/>
          <p:nvPr/>
        </p:nvSpPr>
        <p:spPr>
          <a:xfrm>
            <a:off x="1905120" y="4132080"/>
            <a:ext cx="87148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Geometric CRDTs: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Scaling conflict-free replicated data types directly to continuous semantic vector spaces.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46;p23"/>
          <p:cNvSpPr/>
          <p:nvPr/>
        </p:nvSpPr>
        <p:spPr>
          <a:xfrm>
            <a:off x="1905120" y="4485960"/>
            <a:ext cx="8714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F1F5F9"/>
                </a:solidFill>
                <a:effectLst/>
                <a:uFillTx/>
                <a:latin typeface="Inter SemiBold"/>
                <a:ea typeface="Inter SemiBold"/>
              </a:rPr>
              <a:t>Quantum TDA Routing:</a:t>
            </a:r>
            <a:r>
              <a:rPr lang="en-US" sz="1090" b="0" u="none" strike="noStrike">
                <a:solidFill>
                  <a:srgbClr val="A0AEC0"/>
                </a:solidFill>
                <a:effectLst/>
                <a:uFillTx/>
                <a:latin typeface="Inter"/>
                <a:ea typeface="Inter"/>
              </a:rPr>
              <a:t> Investigating topological HodgeRank acceleration via high-dimensional quantum latent manifolds.</a:t>
            </a:r>
            <a:endParaRPr lang="es-E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Google Shape;247;p23" descr="image.png"/>
          <p:cNvPicPr/>
          <p:nvPr/>
        </p:nvPicPr>
        <p:blipFill>
          <a:blip r:embed="rId2"/>
          <a:stretch/>
        </p:blipFill>
        <p:spPr>
          <a:xfrm>
            <a:off x="7448400" y="4132080"/>
            <a:ext cx="502560" cy="18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Google Shape;248;p23" descr="image.png"/>
          <p:cNvPicPr/>
          <p:nvPr/>
        </p:nvPicPr>
        <p:blipFill>
          <a:blip r:embed="rId3"/>
          <a:stretch/>
        </p:blipFill>
        <p:spPr>
          <a:xfrm>
            <a:off x="1571760" y="31129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Google Shape;249;p23" descr="image.png"/>
          <p:cNvPicPr/>
          <p:nvPr/>
        </p:nvPicPr>
        <p:blipFill>
          <a:blip r:embed="rId4"/>
          <a:stretch/>
        </p:blipFill>
        <p:spPr>
          <a:xfrm>
            <a:off x="1571760" y="364140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oogle Shape;250;p23" descr="image.png"/>
          <p:cNvPicPr/>
          <p:nvPr/>
        </p:nvPicPr>
        <p:blipFill>
          <a:blip r:embed="rId5"/>
          <a:stretch/>
        </p:blipFill>
        <p:spPr>
          <a:xfrm>
            <a:off x="1571760" y="4170240"/>
            <a:ext cx="1710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Google Shape;251;p23" descr="image.png"/>
          <p:cNvPicPr/>
          <p:nvPr/>
        </p:nvPicPr>
        <p:blipFill>
          <a:blip r:embed="rId6"/>
          <a:stretch/>
        </p:blipFill>
        <p:spPr>
          <a:xfrm>
            <a:off x="1571760" y="45241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Google Shape;252;p23"/>
          <p:cNvSpPr/>
          <p:nvPr/>
        </p:nvSpPr>
        <p:spPr>
          <a:xfrm>
            <a:off x="581040" y="738720"/>
            <a:ext cx="115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AB308"/>
                </a:solidFill>
                <a:effectLst/>
                <a:uFillTx/>
                <a:latin typeface="Cinzel SemiBold"/>
                <a:ea typeface="Cinzel SemiBold"/>
              </a:rPr>
              <a:t>Theoretical Open Problems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53;p23"/>
          <p:cNvSpPr/>
          <p:nvPr/>
        </p:nvSpPr>
        <p:spPr>
          <a:xfrm>
            <a:off x="581040" y="1262520"/>
            <a:ext cx="11029680" cy="9000"/>
          </a:xfrm>
          <a:prstGeom prst="rect">
            <a:avLst/>
          </a:prstGeom>
          <a:solidFill>
            <a:srgbClr val="EAB30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258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Google Shape;259;p24"/>
          <p:cNvSpPr/>
          <p:nvPr/>
        </p:nvSpPr>
        <p:spPr>
          <a:xfrm>
            <a:off x="305280" y="1976040"/>
            <a:ext cx="115812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EAB308"/>
                </a:solidFill>
                <a:effectLst/>
                <a:uFillTx/>
                <a:latin typeface="Cinzel"/>
                <a:ea typeface="Cinzel"/>
              </a:rPr>
              <a:t>POLYDIM-CLA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60;p24"/>
          <p:cNvSpPr/>
          <p:nvPr/>
        </p:nvSpPr>
        <p:spPr>
          <a:xfrm>
            <a:off x="581040" y="2814120"/>
            <a:ext cx="11029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Bypassing standard computational bottlenecks via topological consistency.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61;p24"/>
          <p:cNvSpPr/>
          <p:nvPr/>
        </p:nvSpPr>
        <p:spPr>
          <a:xfrm>
            <a:off x="581040" y="5143680"/>
            <a:ext cx="11029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BDF8"/>
                </a:solidFill>
                <a:effectLst/>
                <a:uFillTx/>
                <a:latin typeface="Fira Code"/>
                <a:ea typeface="Fira Code"/>
              </a:rPr>
              <a:t>formal-methods@antigravity.google | github.com/polydim-cla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62;p24"/>
          <p:cNvSpPr/>
          <p:nvPr/>
        </p:nvSpPr>
        <p:spPr>
          <a:xfrm>
            <a:off x="1408320" y="3309480"/>
            <a:ext cx="9375120" cy="11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1F5F9"/>
                </a:solidFill>
                <a:effectLst/>
                <a:uFillTx/>
                <a:latin typeface="Cinzel"/>
                <a:ea typeface="Cinzel"/>
              </a:rPr>
              <a:t>"Categorical alignment is the homomorphic translation of mathematical structures, preserving topological invariants above syntax."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63;p24"/>
          <p:cNvSpPr/>
          <p:nvPr/>
        </p:nvSpPr>
        <p:spPr>
          <a:xfrm>
            <a:off x="3640680" y="4619880"/>
            <a:ext cx="4909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BDF8"/>
                </a:solidFill>
                <a:effectLst/>
                <a:uFillTx/>
                <a:latin typeface="Inter"/>
                <a:ea typeface="Inter"/>
              </a:rPr>
              <a:t>ARIEL ET AL. — GOOGLE ANTIGRAVITY SWARM PROJECT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64;p24"/>
          <p:cNvSpPr/>
          <p:nvPr/>
        </p:nvSpPr>
        <p:spPr>
          <a:xfrm>
            <a:off x="1027080" y="3023640"/>
            <a:ext cx="28548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rgbClr val="EAB308"/>
                </a:solidFill>
                <a:effectLst/>
                <a:uFillTx/>
                <a:latin typeface="Cinzel"/>
                <a:ea typeface="Cinzel"/>
              </a:rPr>
              <a:t>“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2026-07-06T17:13:18Z</dcterms:modified>
  <cp:revision>1</cp:revision>
  <dc:subject/>
  <dc:title/>
</cp:coreProperties>
</file>