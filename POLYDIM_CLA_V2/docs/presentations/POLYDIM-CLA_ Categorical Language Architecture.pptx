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Light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Cinzel SemiBold"/>
      <p:regular r:id="rId31"/>
      <p:bold r:id="rId32"/>
    </p:embeddedFont>
    <p:embeddedFont>
      <p:font typeface="Cinzel"/>
      <p:regular r:id="rId33"/>
      <p:bold r:id="rId34"/>
    </p:embeddedFont>
    <p:embeddedFont>
      <p:font typeface="Fira Code"/>
      <p:regular r:id="rId35"/>
      <p:bold r:id="rId36"/>
    </p:embeddedFont>
    <p:embeddedFont>
      <p:font typeface="Inter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764695-29F5-4126-8C4F-74F366C0B8C3}">
  <a:tblStyle styleId="{D2764695-29F5-4126-8C4F-74F366C0B8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font" Target="fonts/InterLight-bold.fntdata"/><Relationship Id="rId22" Type="http://schemas.openxmlformats.org/officeDocument/2006/relationships/font" Target="fonts/InterLight-boldItalic.fntdata"/><Relationship Id="rId21" Type="http://schemas.openxmlformats.org/officeDocument/2006/relationships/font" Target="fonts/InterLight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inzelSemiBold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Cinzel-regular.fntdata"/><Relationship Id="rId10" Type="http://schemas.openxmlformats.org/officeDocument/2006/relationships/slide" Target="slides/slide4.xml"/><Relationship Id="rId32" Type="http://schemas.openxmlformats.org/officeDocument/2006/relationships/font" Target="fonts/CinzelSemiBold-bold.fntdata"/><Relationship Id="rId13" Type="http://schemas.openxmlformats.org/officeDocument/2006/relationships/slide" Target="slides/slide7.xml"/><Relationship Id="rId35" Type="http://schemas.openxmlformats.org/officeDocument/2006/relationships/font" Target="fonts/FiraCode-regular.fntdata"/><Relationship Id="rId12" Type="http://schemas.openxmlformats.org/officeDocument/2006/relationships/slide" Target="slides/slide6.xml"/><Relationship Id="rId34" Type="http://schemas.openxmlformats.org/officeDocument/2006/relationships/font" Target="fonts/Cinzel-bold.fntdata"/><Relationship Id="rId15" Type="http://schemas.openxmlformats.org/officeDocument/2006/relationships/slide" Target="slides/slide9.xml"/><Relationship Id="rId37" Type="http://schemas.openxmlformats.org/officeDocument/2006/relationships/font" Target="fonts/InterMedium-regular.fntdata"/><Relationship Id="rId14" Type="http://schemas.openxmlformats.org/officeDocument/2006/relationships/slide" Target="slides/slide8.xml"/><Relationship Id="rId36" Type="http://schemas.openxmlformats.org/officeDocument/2006/relationships/font" Target="fonts/FiraCode-bold.fntdata"/><Relationship Id="rId17" Type="http://schemas.openxmlformats.org/officeDocument/2006/relationships/slide" Target="slides/slide11.xml"/><Relationship Id="rId39" Type="http://schemas.openxmlformats.org/officeDocument/2006/relationships/font" Target="fonts/InterMedium-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bold.fntdata"/><Relationship Id="rId19" Type="http://schemas.openxmlformats.org/officeDocument/2006/relationships/font" Target="fonts/InterLigh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5" Type="http://schemas.openxmlformats.org/officeDocument/2006/relationships/image" Target="../media/image4.png"/><Relationship Id="rId6" Type="http://schemas.openxmlformats.org/officeDocument/2006/relationships/image" Target="../media/image35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Relationship Id="rId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75" y="3808065"/>
            <a:ext cx="23812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35767" y="2468909"/>
            <a:ext cx="3720465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Cinzel"/>
                <a:ea typeface="Cinzel"/>
                <a:cs typeface="Cinzel"/>
                <a:sym typeface="Cinzel"/>
              </a:rPr>
              <a:t>POLYDIM-CLA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19312" y="3093690"/>
            <a:ext cx="7953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Asymptotically Optimal Latent Routing via Clifford Spinors &amp; Woodbury Projections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05375" y="3931890"/>
            <a:ext cx="2381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Google Antigravity Swarm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1334"/>
            <a:ext cx="5372100" cy="22397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21334"/>
            <a:ext cx="5372100" cy="22397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75" y="3392834"/>
            <a:ext cx="48768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3392834"/>
            <a:ext cx="4876800" cy="54188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28675" y="3068984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Classical Paradigm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28675" y="4031009"/>
            <a:ext cx="48768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Execution maps deterministic instructions sequentially. Lacks continuous semantic derivatives and parametric backpropagation lenses across state transitions.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486525" y="3068984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POLYDIM-CLA Paradigm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86525" y="4077592"/>
            <a:ext cx="48768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Leverages parameterized lenses to construct exact semantic derivatives for backpropagation. Lazy log-tensor monads ensure safe, compilation-ready architectures.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49016" y="3564284"/>
            <a:ext cx="836116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15721" y="3545234"/>
            <a:ext cx="2018258" cy="237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The Operational Semantics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87539"/>
            <a:ext cx="53721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827883"/>
            <a:ext cx="5372100" cy="134853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2827883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Function Space Mappings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3151733"/>
            <a:ext cx="53721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Traditional deep networks optimize over finite vector spaces. Under the neural operator framework (DeepONet, FNO), we learn mappings directly between infinite-dimensional Hilbert spaces: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81025" y="4525714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This formulation permits continuous field evaluations and resolves zero-shot generalization anomalies without dimensional collapse.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3092" y="4058989"/>
            <a:ext cx="867816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59766" y="2980283"/>
            <a:ext cx="25303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Convergence Integral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15671" y="3351758"/>
            <a:ext cx="2818358" cy="2436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339012" y="3738264"/>
            <a:ext cx="31718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D82"/>
                </a:solidFill>
                <a:latin typeface="Inter"/>
                <a:ea typeface="Inter"/>
                <a:cs typeface="Inter"/>
                <a:sym typeface="Inter"/>
              </a:rPr>
              <a:t>Continuous kernel parametrization over arbitrary domains.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Infinite-Dimensional Operators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92189"/>
            <a:ext cx="3549699" cy="1897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992189"/>
            <a:ext cx="3549699" cy="1897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992189"/>
            <a:ext cx="3549699" cy="189785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81050" y="363036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Dimensional scaling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81050" y="395421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Set D: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Bounded latent topological configurations mapping structural changes without local metric distortions.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521249" y="363036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Identity Groupoid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21249" y="395421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Set G: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Restricting semantic transformations to an ∞-groupoid guarantees valid path inversions via Homotopy Type Theory (HoTT).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261449" y="363036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Differentiable Monad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261449" y="395421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Monad M: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Handles computational side-effects to compile categorical constructs directly to standard GPU tensor loops.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22078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1249" y="322078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1449" y="322078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Polydimensional Axiomatics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289375"/>
            <a:ext cx="5372100" cy="54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760737"/>
            <a:ext cx="53721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81025" y="2908250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Restricted Spin(n) Actions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3232100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To avoid the exponential space scaling ($2^{4096}$) of standard Clifford Algebras, updates restrict actions directly to the Spin Group.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81025" y="3760737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Reflections under the Cartan-Dieudonné theorem guarantee coordinate-independent rotor actions: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238875" y="2908250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Cayley Skew Generator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238875" y="3232100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The transformation generator is extracted from the non-singular alignment matrix via the Cayley transform: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238875" y="4475112"/>
            <a:ext cx="537210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This avoids combinatorial explosion and guarantees strict equivariant updates.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04232" y="4441775"/>
            <a:ext cx="725537" cy="198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4999" y="3913137"/>
            <a:ext cx="21398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Spin Rotors &amp; Clifford Updates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0158"/>
            <a:ext cx="11029950" cy="486206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1943100" y="5042445"/>
            <a:ext cx="830580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Spectral distribution of Cellular Hodge Laplacians. Collapse occurs when the smallest non-zero eigenvalue converges to zero.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Sheaf Laplacian Flow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218533"/>
            <a:ext cx="5372100" cy="50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81025" y="3011983"/>
            <a:ext cx="53721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EAB308"/>
                </a:solidFill>
                <a:latin typeface="Cinzel"/>
                <a:ea typeface="Cinzel"/>
                <a:cs typeface="Cinzel"/>
                <a:sym typeface="Cinzel"/>
              </a:rPr>
              <a:t>O(NK²)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81025" y="4154983"/>
            <a:ext cx="537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Linear Scaling Achieved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238875" y="3011983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Bypassing Dense Matrix Inversion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238875" y="3335833"/>
            <a:ext cx="5372100" cy="2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Classical routing requires dense updates scaling at 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238875" y="3689895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By applying the Woodbury Identity, we invert a low-rank matrix modification in linear time:</a:t>
            </a:r>
            <a:endParaRPr/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8825" y="3335833"/>
            <a:ext cx="719435" cy="232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5650" y="4370933"/>
            <a:ext cx="3638550" cy="20419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Woodbury Matrix Reductions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/>
          <p:nvPr/>
        </p:nvGraphicFramePr>
        <p:xfrm>
          <a:off x="581025" y="28219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{D2764695-29F5-4126-8C4F-74F366C0B8C3}</a:tableStyleId>
              </a:tblPr>
              <a:tblGrid>
                <a:gridCol w="2065575"/>
                <a:gridCol w="2165750"/>
                <a:gridCol w="2326175"/>
                <a:gridCol w="2597050"/>
                <a:gridCol w="187537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State Dimension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Low-Rank Factor (K)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Standard Latency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Woodbury Optimized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Effective Speedup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2,048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7.9x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4,096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42.51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13.8x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8,192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284.15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12.24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23.2x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16,384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1,940.60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32.9x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>
            <a:off x="581025" y="3274367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646610" y="3274367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812357" y="3274367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138541" y="3274367"/>
            <a:ext cx="25970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9735591" y="3274367"/>
            <a:ext cx="18753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81025" y="3719661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646610" y="3719661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812357" y="3719661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138541" y="3719661"/>
            <a:ext cx="25970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9735591" y="3719661"/>
            <a:ext cx="18753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81025" y="4164955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646610" y="4164955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812357" y="4164955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138541" y="4164955"/>
            <a:ext cx="25970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9735591" y="4164955"/>
            <a:ext cx="18753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81025" y="4610248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646610" y="4610248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812357" y="4610248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7138541" y="4610248"/>
            <a:ext cx="259705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9735591" y="4610248"/>
            <a:ext cx="18753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Latency Execution Profiles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0158"/>
            <a:ext cx="11029950" cy="486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2943225" y="4732883"/>
            <a:ext cx="630555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Acceleration metrics comparing direct tensor inverses against Low-Rank Woodbury Projections.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Hardware Optimization Scaling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62994"/>
            <a:ext cx="5372100" cy="2356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62994"/>
            <a:ext cx="5372100" cy="2356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75" y="3863131"/>
            <a:ext cx="4876800" cy="535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3863131"/>
            <a:ext cx="4876800" cy="59188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828675" y="3010644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Deep Equilibrium Solves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28675" y="3334494"/>
            <a:ext cx="48768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Instead of stacking infinite transformer layers, we compute fixed points directly via implicit routing updates: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28675" y="4493418"/>
            <a:ext cx="487680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Enforces stable convergence inside parameterized neural layers.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486525" y="3010644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Clarke Generalized Jacobian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486525" y="3334494"/>
            <a:ext cx="48768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To secure backpropagation bounds through non-smooth, non-differentiable activation manifolds: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486525" y="4550271"/>
            <a:ext cx="487680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Strict Lipschitz-1 limits shield updates from spectral expansion loops.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15803" y="4015531"/>
            <a:ext cx="1302543" cy="23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80696" y="4025056"/>
            <a:ext cx="2888307" cy="27756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Alignment &amp; Equilibrium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1905000" y="3074789"/>
            <a:ext cx="8715375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ATTEND Monad &amp; Softmax: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Formulating measure-theoretic bounds under probabilistic softmax normalization (Giry Monad equivalents).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905000" y="3603426"/>
            <a:ext cx="8715375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Banach Fixed Points for Attention: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Establishing strict 1-Lipschitz bounds on multi-head attention queries to prevent gradient divergence.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905000" y="4132064"/>
            <a:ext cx="8715375" cy="2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Geometric CRDTs: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Scaling conflict-free replicated data types directly to continuous semantic vector spaces.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905000" y="4486126"/>
            <a:ext cx="871537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Quantum TDA Routing: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Investigating topological HodgeRank acceleration via high-dimensional quantum latent manifolds.</a:t>
            </a:r>
            <a:endParaRPr/>
          </a:p>
        </p:txBody>
      </p:sp>
      <p:pic>
        <p:nvPicPr>
          <p:cNvPr descr="image.png"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8550" y="4132064"/>
            <a:ext cx="503039" cy="184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25" y="311288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1625" y="364152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1625" y="4170164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71625" y="452422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Theoretical Open Problems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305276" y="1975991"/>
            <a:ext cx="1158144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AB308"/>
                </a:solidFill>
                <a:latin typeface="Cinzel"/>
                <a:ea typeface="Cinzel"/>
                <a:cs typeface="Cinzel"/>
                <a:sym typeface="Cinzel"/>
              </a:rPr>
              <a:t>POLYDIM-CLA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81025" y="2814191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Bypassing standard computational bottlenecks via topological consistency.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581025" y="5143648"/>
            <a:ext cx="11029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formal-methods@antigravity.google | github.com/polydim-cla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408211" y="3309491"/>
            <a:ext cx="9375427" cy="111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Cinzel"/>
                <a:ea typeface="Cinzel"/>
                <a:cs typeface="Cinzel"/>
                <a:sym typeface="Cinzel"/>
              </a:rPr>
              <a:t>"Categorical alignment is the homomorphic translation of mathematical structures, preserving topological invariants above syntax."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3640782" y="4619773"/>
            <a:ext cx="49101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ARIEL ET AL. — GOOGLE ANTIGRAVITY SWARM PROJECT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1027211" y="3023741"/>
            <a:ext cx="285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EAB308"/>
                </a:solidFill>
                <a:latin typeface="Cinzel"/>
                <a:ea typeface="Cinzel"/>
                <a:cs typeface="Cinzel"/>
                <a:sym typeface="Cinzel"/>
              </a:rPr>
              <a:t>“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